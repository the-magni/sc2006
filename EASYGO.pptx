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The Seasons" charset="1" panose="00000000000000000000"/>
      <p:regular r:id="rId44"/>
    </p:embeddedFont>
    <p:embeddedFont>
      <p:font typeface="Raleway" charset="1" panose="020B0503030101060003"/>
      <p:regular r:id="rId45"/>
    </p:embeddedFont>
    <p:embeddedFont>
      <p:font typeface="Body Grotesque" charset="1" panose="02000503040000020004"/>
      <p:regular r:id="rId46"/>
    </p:embeddedFont>
    <p:embeddedFont>
      <p:font typeface="Body Grotesque Bold" charset="1" panose="02000503040000020004"/>
      <p:regular r:id="rId47"/>
    </p:embeddedFont>
    <p:embeddedFont>
      <p:font typeface="Montserrat Bold Italics" charset="1" panose="00000800000000000000"/>
      <p:regular r:id="rId48"/>
    </p:embeddedFont>
    <p:embeddedFont>
      <p:font typeface="Barlow" charset="1" panose="00000500000000000000"/>
      <p:regular r:id="rId49"/>
    </p:embeddedFont>
    <p:embeddedFont>
      <p:font typeface="Barlow Bold" charset="1" panose="00000800000000000000"/>
      <p:regular r:id="rId50"/>
    </p:embeddedFont>
    <p:embeddedFont>
      <p:font typeface="Canva Sans Bold Italics" charset="1" panose="020B0803030501040103"/>
      <p:regular r:id="rId51"/>
    </p:embeddedFont>
    <p:embeddedFont>
      <p:font typeface="Exo 2 Bold" charset="1" panose="00000800000000000000"/>
      <p:regular r:id="rId52"/>
    </p:embeddedFont>
    <p:embeddedFont>
      <p:font typeface="Arial" charset="1" panose="020B06040202020202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4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7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6" y="0"/>
            <a:ext cx="8714078" cy="10287000"/>
          </a:xfrm>
          <a:custGeom>
            <a:avLst/>
            <a:gdLst/>
            <a:ahLst/>
            <a:cxnLst/>
            <a:rect r="r" b="b" t="t" l="l"/>
            <a:pathLst>
              <a:path h="10287000" w="8714078">
                <a:moveTo>
                  <a:pt x="0" y="0"/>
                </a:moveTo>
                <a:lnTo>
                  <a:pt x="8714077" y="0"/>
                </a:lnTo>
                <a:lnTo>
                  <a:pt x="87140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22629" y="1790660"/>
            <a:ext cx="7132269" cy="168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54"/>
              </a:lnSpc>
            </a:pPr>
            <a:r>
              <a:rPr lang="en-US" sz="10125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EASYGO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40927" y="3550957"/>
            <a:ext cx="6295673" cy="522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3999">
                <a:solidFill>
                  <a:srgbClr val="0C090A"/>
                </a:solidFill>
                <a:latin typeface="Raleway"/>
                <a:ea typeface="Raleway"/>
                <a:cs typeface="Raleway"/>
                <a:sym typeface="Raleway"/>
              </a:rPr>
              <a:t>Group 1</a:t>
            </a:r>
          </a:p>
          <a:p>
            <a:pPr algn="l">
              <a:lnSpc>
                <a:spcPts val="5999"/>
              </a:lnSpc>
            </a:pPr>
            <a:r>
              <a:rPr lang="en-US" sz="3999">
                <a:solidFill>
                  <a:srgbClr val="0C090A"/>
                </a:solidFill>
                <a:latin typeface="Raleway"/>
                <a:ea typeface="Raleway"/>
                <a:cs typeface="Raleway"/>
                <a:sym typeface="Raleway"/>
              </a:rPr>
              <a:t>Andy Thiang</a:t>
            </a:r>
          </a:p>
          <a:p>
            <a:pPr algn="l">
              <a:lnSpc>
                <a:spcPts val="5999"/>
              </a:lnSpc>
            </a:pPr>
            <a:r>
              <a:rPr lang="en-US" sz="3999">
                <a:solidFill>
                  <a:srgbClr val="0C090A"/>
                </a:solidFill>
                <a:latin typeface="Raleway"/>
                <a:ea typeface="Raleway"/>
                <a:cs typeface="Raleway"/>
                <a:sym typeface="Raleway"/>
              </a:rPr>
              <a:t>Justin Tan Shao Yang</a:t>
            </a:r>
          </a:p>
          <a:p>
            <a:pPr algn="l">
              <a:lnSpc>
                <a:spcPts val="5999"/>
              </a:lnSpc>
            </a:pPr>
            <a:r>
              <a:rPr lang="en-US" sz="3999">
                <a:solidFill>
                  <a:srgbClr val="0C090A"/>
                </a:solidFill>
                <a:latin typeface="Raleway"/>
                <a:ea typeface="Raleway"/>
                <a:cs typeface="Raleway"/>
                <a:sym typeface="Raleway"/>
              </a:rPr>
              <a:t>Dinh Quang Anh</a:t>
            </a:r>
          </a:p>
          <a:p>
            <a:pPr algn="l">
              <a:lnSpc>
                <a:spcPts val="5999"/>
              </a:lnSpc>
            </a:pPr>
            <a:r>
              <a:rPr lang="en-US" sz="3999">
                <a:solidFill>
                  <a:srgbClr val="0C090A"/>
                </a:solidFill>
                <a:latin typeface="Raleway"/>
                <a:ea typeface="Raleway"/>
                <a:cs typeface="Raleway"/>
                <a:sym typeface="Raleway"/>
              </a:rPr>
              <a:t>Caasi John Rian Domingo</a:t>
            </a:r>
          </a:p>
          <a:p>
            <a:pPr algn="l">
              <a:lnSpc>
                <a:spcPts val="5999"/>
              </a:lnSpc>
            </a:pPr>
            <a:r>
              <a:rPr lang="en-US" sz="3999">
                <a:solidFill>
                  <a:srgbClr val="0C090A"/>
                </a:solidFill>
                <a:latin typeface="Raleway"/>
                <a:ea typeface="Raleway"/>
                <a:cs typeface="Raleway"/>
                <a:sym typeface="Raleway"/>
              </a:rPr>
              <a:t>Benjamin Phang Qi Lun</a:t>
            </a:r>
          </a:p>
          <a:p>
            <a:pPr algn="l">
              <a:lnSpc>
                <a:spcPts val="5999"/>
              </a:lnSpc>
            </a:pPr>
            <a:r>
              <a:rPr lang="en-US" sz="3999">
                <a:solidFill>
                  <a:srgbClr val="0C090A"/>
                </a:solidFill>
                <a:latin typeface="Raleway"/>
                <a:ea typeface="Raleway"/>
                <a:cs typeface="Raleway"/>
                <a:sym typeface="Raleway"/>
              </a:rPr>
              <a:t>Chew Hong Ming</a:t>
            </a:r>
          </a:p>
        </p:txBody>
      </p:sp>
      <p:sp>
        <p:nvSpPr>
          <p:cNvPr name="AutoShape 6" id="6"/>
          <p:cNvSpPr/>
          <p:nvPr/>
        </p:nvSpPr>
        <p:spPr>
          <a:xfrm>
            <a:off x="10440927" y="3994263"/>
            <a:ext cx="196238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774216" y="3975213"/>
            <a:ext cx="196238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6798" y="0"/>
            <a:ext cx="8714078" cy="10287000"/>
          </a:xfrm>
          <a:custGeom>
            <a:avLst/>
            <a:gdLst/>
            <a:ahLst/>
            <a:cxnLst/>
            <a:rect r="r" b="b" t="t" l="l"/>
            <a:pathLst>
              <a:path h="10287000" w="8714078">
                <a:moveTo>
                  <a:pt x="0" y="0"/>
                </a:moveTo>
                <a:lnTo>
                  <a:pt x="8714077" y="0"/>
                </a:lnTo>
                <a:lnTo>
                  <a:pt x="87140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71966" y="647319"/>
            <a:ext cx="11245108" cy="80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904"/>
              </a:lnSpc>
              <a:spcBef>
                <a:spcPct val="0"/>
              </a:spcBef>
            </a:pPr>
            <a:r>
              <a:rPr lang="en-US" sz="4800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INNOVATION 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86798" y="-381245"/>
            <a:ext cx="8723733" cy="11859391"/>
          </a:xfrm>
          <a:custGeom>
            <a:avLst/>
            <a:gdLst/>
            <a:ahLst/>
            <a:cxnLst/>
            <a:rect r="r" b="b" t="t" l="l"/>
            <a:pathLst>
              <a:path h="11859391" w="8723733">
                <a:moveTo>
                  <a:pt x="0" y="0"/>
                </a:moveTo>
                <a:lnTo>
                  <a:pt x="8723733" y="0"/>
                </a:lnTo>
                <a:lnTo>
                  <a:pt x="8723733" y="11859391"/>
                </a:lnTo>
                <a:lnTo>
                  <a:pt x="0" y="11859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940" t="-2691" r="-3226" b="-275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41710" y="1984250"/>
            <a:ext cx="9707712" cy="765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7430" indent="-358715" lvl="1">
              <a:lnSpc>
                <a:spcPts val="4652"/>
              </a:lnSpc>
              <a:buFont typeface="Arial"/>
              <a:buChar char="•"/>
            </a:pPr>
            <a:r>
              <a:rPr lang="en-US" sz="3322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EasyGo is a digital solution that generates </a:t>
            </a:r>
            <a:r>
              <a:rPr lang="en-US" b="true" sz="3322">
                <a:solidFill>
                  <a:srgbClr val="0C090A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optimised</a:t>
            </a:r>
            <a:r>
              <a:rPr lang="en-US" sz="3322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travel routes tailored to individual traveler preferences. It shifts the navigation from fixed outputs to dynamic, user controlled experience.</a:t>
            </a:r>
          </a:p>
          <a:p>
            <a:pPr algn="l">
              <a:lnSpc>
                <a:spcPts val="4652"/>
              </a:lnSpc>
            </a:pPr>
          </a:p>
          <a:p>
            <a:pPr algn="l" marL="717430" indent="-358715" lvl="1">
              <a:lnSpc>
                <a:spcPts val="4652"/>
              </a:lnSpc>
              <a:buFont typeface="Arial"/>
              <a:buChar char="•"/>
            </a:pPr>
            <a:r>
              <a:rPr lang="en-US" sz="3322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The originality is the </a:t>
            </a:r>
            <a:r>
              <a:rPr lang="en-US" b="true" sz="3322">
                <a:solidFill>
                  <a:srgbClr val="0C090A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Dynamic Convenience</a:t>
            </a:r>
            <a:r>
              <a:rPr lang="en-US" sz="3322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Score, a metric that allows the user to personally weigh the importance of factors like walking, crowds and cost. EasyGo provides a clear, actionable comparison of trade-offs which leads to maximum user satisfaction with every journey.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01902" y="0"/>
            <a:ext cx="7986098" cy="10287000"/>
          </a:xfrm>
          <a:custGeom>
            <a:avLst/>
            <a:gdLst/>
            <a:ahLst/>
            <a:cxnLst/>
            <a:rect r="r" b="b" t="t" l="l"/>
            <a:pathLst>
              <a:path h="10287000" w="7986098">
                <a:moveTo>
                  <a:pt x="0" y="0"/>
                </a:moveTo>
                <a:lnTo>
                  <a:pt x="7986098" y="0"/>
                </a:lnTo>
                <a:lnTo>
                  <a:pt x="79860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169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5512" y="3658068"/>
            <a:ext cx="9090607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Commuters in Singapore often juggle between </a:t>
            </a:r>
            <a:r>
              <a:rPr lang="en-US" b="true" sz="3000">
                <a:solidFill>
                  <a:srgbClr val="0C090A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multiple applications</a:t>
            </a:r>
            <a:r>
              <a:rPr lang="en-US" sz="3000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to plan a single journey (e.g. one app for route, another for public transit information)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Existing route planners typically present the fastest or shortest route as the “best” option, failing to account for </a:t>
            </a:r>
            <a:r>
              <a:rPr lang="en-US" b="true" sz="3000">
                <a:solidFill>
                  <a:srgbClr val="0C090A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individual user priorities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6494" y="2034314"/>
            <a:ext cx="8639625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5"/>
              </a:lnSpc>
              <a:spcBef>
                <a:spcPct val="0"/>
              </a:spcBef>
            </a:pPr>
            <a:r>
              <a:rPr lang="en-US" sz="5700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693399"/>
            <a:ext cx="4548814" cy="7163082"/>
            <a:chOff x="0" y="0"/>
            <a:chExt cx="812800" cy="12799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279928"/>
            </a:xfrm>
            <a:custGeom>
              <a:avLst/>
              <a:gdLst/>
              <a:ahLst/>
              <a:cxnLst/>
              <a:rect r="r" b="b" t="t" l="l"/>
              <a:pathLst>
                <a:path h="12799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79928"/>
                  </a:lnTo>
                  <a:lnTo>
                    <a:pt x="0" y="1279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1318028"/>
            </a:xfrm>
            <a:prstGeom prst="rect">
              <a:avLst/>
            </a:prstGeom>
          </p:spPr>
          <p:txBody>
            <a:bodyPr anchor="ctr" rtlCol="false" tIns="74878" lIns="74878" bIns="74878" rIns="7487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17295"/>
            <a:ext cx="4548814" cy="1839481"/>
            <a:chOff x="0" y="0"/>
            <a:chExt cx="812800" cy="3286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28686"/>
            </a:xfrm>
            <a:custGeom>
              <a:avLst/>
              <a:gdLst/>
              <a:ahLst/>
              <a:cxnLst/>
              <a:rect r="r" b="b" t="t" l="l"/>
              <a:pathLst>
                <a:path h="328686" w="812800">
                  <a:moveTo>
                    <a:pt x="112330" y="0"/>
                  </a:moveTo>
                  <a:lnTo>
                    <a:pt x="700470" y="0"/>
                  </a:lnTo>
                  <a:cubicBezTo>
                    <a:pt x="730262" y="0"/>
                    <a:pt x="758834" y="11835"/>
                    <a:pt x="779899" y="32901"/>
                  </a:cubicBezTo>
                  <a:cubicBezTo>
                    <a:pt x="800965" y="53966"/>
                    <a:pt x="812800" y="82538"/>
                    <a:pt x="812800" y="112330"/>
                  </a:cubicBezTo>
                  <a:lnTo>
                    <a:pt x="812800" y="216356"/>
                  </a:lnTo>
                  <a:cubicBezTo>
                    <a:pt x="812800" y="246148"/>
                    <a:pt x="800965" y="274719"/>
                    <a:pt x="779899" y="295785"/>
                  </a:cubicBezTo>
                  <a:cubicBezTo>
                    <a:pt x="758834" y="316851"/>
                    <a:pt x="730262" y="328686"/>
                    <a:pt x="700470" y="328686"/>
                  </a:cubicBezTo>
                  <a:lnTo>
                    <a:pt x="112330" y="328686"/>
                  </a:lnTo>
                  <a:cubicBezTo>
                    <a:pt x="82538" y="328686"/>
                    <a:pt x="53966" y="316851"/>
                    <a:pt x="32901" y="295785"/>
                  </a:cubicBezTo>
                  <a:cubicBezTo>
                    <a:pt x="11835" y="274719"/>
                    <a:pt x="0" y="246148"/>
                    <a:pt x="0" y="216356"/>
                  </a:cubicBezTo>
                  <a:lnTo>
                    <a:pt x="0" y="112330"/>
                  </a:lnTo>
                  <a:cubicBezTo>
                    <a:pt x="0" y="82538"/>
                    <a:pt x="11835" y="53966"/>
                    <a:pt x="32901" y="32901"/>
                  </a:cubicBezTo>
                  <a:cubicBezTo>
                    <a:pt x="53966" y="11835"/>
                    <a:pt x="82538" y="0"/>
                    <a:pt x="1123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812800" cy="414411"/>
            </a:xfrm>
            <a:prstGeom prst="rect">
              <a:avLst/>
            </a:prstGeom>
          </p:spPr>
          <p:txBody>
            <a:bodyPr anchor="ctr" rtlCol="false" tIns="74878" lIns="74878" bIns="74878" rIns="74878"/>
            <a:lstStyle/>
            <a:p>
              <a:pPr algn="ctr">
                <a:lnSpc>
                  <a:spcPts val="6859"/>
                </a:lnSpc>
              </a:pPr>
              <a:r>
                <a:rPr lang="en-US" b="true" sz="4899" i="true">
                  <a:solidFill>
                    <a:srgbClr val="0C090A">
                      <a:alpha val="72941"/>
                    </a:srgbClr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Frontend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30064" y="2117295"/>
            <a:ext cx="4548814" cy="7163082"/>
            <a:chOff x="0" y="0"/>
            <a:chExt cx="812800" cy="12799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279928"/>
            </a:xfrm>
            <a:custGeom>
              <a:avLst/>
              <a:gdLst/>
              <a:ahLst/>
              <a:cxnLst/>
              <a:rect r="r" b="b" t="t" l="l"/>
              <a:pathLst>
                <a:path h="12799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79928"/>
                  </a:lnTo>
                  <a:lnTo>
                    <a:pt x="0" y="1279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318028"/>
            </a:xfrm>
            <a:prstGeom prst="rect">
              <a:avLst/>
            </a:prstGeom>
          </p:spPr>
          <p:txBody>
            <a:bodyPr anchor="ctr" rtlCol="false" tIns="74878" lIns="74878" bIns="74878" rIns="7487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30064" y="2117295"/>
            <a:ext cx="4548814" cy="1839481"/>
            <a:chOff x="0" y="0"/>
            <a:chExt cx="812800" cy="3286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328686"/>
            </a:xfrm>
            <a:custGeom>
              <a:avLst/>
              <a:gdLst/>
              <a:ahLst/>
              <a:cxnLst/>
              <a:rect r="r" b="b" t="t" l="l"/>
              <a:pathLst>
                <a:path h="328686" w="812800">
                  <a:moveTo>
                    <a:pt x="112330" y="0"/>
                  </a:moveTo>
                  <a:lnTo>
                    <a:pt x="700470" y="0"/>
                  </a:lnTo>
                  <a:cubicBezTo>
                    <a:pt x="730262" y="0"/>
                    <a:pt x="758834" y="11835"/>
                    <a:pt x="779899" y="32901"/>
                  </a:cubicBezTo>
                  <a:cubicBezTo>
                    <a:pt x="800965" y="53966"/>
                    <a:pt x="812800" y="82538"/>
                    <a:pt x="812800" y="112330"/>
                  </a:cubicBezTo>
                  <a:lnTo>
                    <a:pt x="812800" y="216356"/>
                  </a:lnTo>
                  <a:cubicBezTo>
                    <a:pt x="812800" y="246148"/>
                    <a:pt x="800965" y="274719"/>
                    <a:pt x="779899" y="295785"/>
                  </a:cubicBezTo>
                  <a:cubicBezTo>
                    <a:pt x="758834" y="316851"/>
                    <a:pt x="730262" y="328686"/>
                    <a:pt x="700470" y="328686"/>
                  </a:cubicBezTo>
                  <a:lnTo>
                    <a:pt x="112330" y="328686"/>
                  </a:lnTo>
                  <a:cubicBezTo>
                    <a:pt x="82538" y="328686"/>
                    <a:pt x="53966" y="316851"/>
                    <a:pt x="32901" y="295785"/>
                  </a:cubicBezTo>
                  <a:cubicBezTo>
                    <a:pt x="11835" y="274719"/>
                    <a:pt x="0" y="246148"/>
                    <a:pt x="0" y="216356"/>
                  </a:cubicBezTo>
                  <a:lnTo>
                    <a:pt x="0" y="112330"/>
                  </a:lnTo>
                  <a:cubicBezTo>
                    <a:pt x="0" y="82538"/>
                    <a:pt x="11835" y="53966"/>
                    <a:pt x="32901" y="32901"/>
                  </a:cubicBezTo>
                  <a:cubicBezTo>
                    <a:pt x="53966" y="11835"/>
                    <a:pt x="82538" y="0"/>
                    <a:pt x="1123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812800" cy="414411"/>
            </a:xfrm>
            <a:prstGeom prst="rect">
              <a:avLst/>
            </a:prstGeom>
          </p:spPr>
          <p:txBody>
            <a:bodyPr anchor="ctr" rtlCol="false" tIns="74878" lIns="74878" bIns="74878" rIns="74878"/>
            <a:lstStyle/>
            <a:p>
              <a:pPr algn="ctr">
                <a:lnSpc>
                  <a:spcPts val="6859"/>
                </a:lnSpc>
              </a:pPr>
              <a:r>
                <a:rPr lang="en-US" b="true" sz="4899" i="true">
                  <a:solidFill>
                    <a:srgbClr val="0C090A">
                      <a:alpha val="72941"/>
                    </a:srgbClr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Backend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34303" y="2693399"/>
            <a:ext cx="4548814" cy="7303544"/>
            <a:chOff x="0" y="0"/>
            <a:chExt cx="812800" cy="13050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305026"/>
            </a:xfrm>
            <a:custGeom>
              <a:avLst/>
              <a:gdLst/>
              <a:ahLst/>
              <a:cxnLst/>
              <a:rect r="r" b="b" t="t" l="l"/>
              <a:pathLst>
                <a:path h="130502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05026"/>
                  </a:lnTo>
                  <a:lnTo>
                    <a:pt x="0" y="1305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1343126"/>
            </a:xfrm>
            <a:prstGeom prst="rect">
              <a:avLst/>
            </a:prstGeom>
          </p:spPr>
          <p:txBody>
            <a:bodyPr anchor="ctr" rtlCol="false" tIns="74878" lIns="74878" bIns="74878" rIns="7487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34303" y="2117295"/>
            <a:ext cx="4548814" cy="1957258"/>
            <a:chOff x="0" y="0"/>
            <a:chExt cx="812800" cy="3497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349731"/>
            </a:xfrm>
            <a:custGeom>
              <a:avLst/>
              <a:gdLst/>
              <a:ahLst/>
              <a:cxnLst/>
              <a:rect r="r" b="b" t="t" l="l"/>
              <a:pathLst>
                <a:path h="349731" w="812800">
                  <a:moveTo>
                    <a:pt x="112330" y="0"/>
                  </a:moveTo>
                  <a:lnTo>
                    <a:pt x="700470" y="0"/>
                  </a:lnTo>
                  <a:cubicBezTo>
                    <a:pt x="730262" y="0"/>
                    <a:pt x="758834" y="11835"/>
                    <a:pt x="779899" y="32901"/>
                  </a:cubicBezTo>
                  <a:cubicBezTo>
                    <a:pt x="800965" y="53966"/>
                    <a:pt x="812800" y="82538"/>
                    <a:pt x="812800" y="112330"/>
                  </a:cubicBezTo>
                  <a:lnTo>
                    <a:pt x="812800" y="237401"/>
                  </a:lnTo>
                  <a:cubicBezTo>
                    <a:pt x="812800" y="267193"/>
                    <a:pt x="800965" y="295764"/>
                    <a:pt x="779899" y="316830"/>
                  </a:cubicBezTo>
                  <a:cubicBezTo>
                    <a:pt x="758834" y="337896"/>
                    <a:pt x="730262" y="349731"/>
                    <a:pt x="700470" y="349731"/>
                  </a:cubicBezTo>
                  <a:lnTo>
                    <a:pt x="112330" y="349731"/>
                  </a:lnTo>
                  <a:cubicBezTo>
                    <a:pt x="82538" y="349731"/>
                    <a:pt x="53966" y="337896"/>
                    <a:pt x="32901" y="316830"/>
                  </a:cubicBezTo>
                  <a:cubicBezTo>
                    <a:pt x="11835" y="295764"/>
                    <a:pt x="0" y="267193"/>
                    <a:pt x="0" y="237401"/>
                  </a:cubicBezTo>
                  <a:lnTo>
                    <a:pt x="0" y="112330"/>
                  </a:lnTo>
                  <a:cubicBezTo>
                    <a:pt x="0" y="82538"/>
                    <a:pt x="11835" y="53966"/>
                    <a:pt x="32901" y="32901"/>
                  </a:cubicBezTo>
                  <a:cubicBezTo>
                    <a:pt x="53966" y="11835"/>
                    <a:pt x="82538" y="0"/>
                    <a:pt x="1123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812800" cy="435456"/>
            </a:xfrm>
            <a:prstGeom prst="rect">
              <a:avLst/>
            </a:prstGeom>
          </p:spPr>
          <p:txBody>
            <a:bodyPr anchor="ctr" rtlCol="false" tIns="74878" lIns="74878" bIns="74878" rIns="74878"/>
            <a:lstStyle/>
            <a:p>
              <a:pPr algn="ctr">
                <a:lnSpc>
                  <a:spcPts val="6859"/>
                </a:lnSpc>
              </a:pPr>
              <a:r>
                <a:rPr lang="en-US" b="true" sz="4899" i="true">
                  <a:solidFill>
                    <a:srgbClr val="0C090A">
                      <a:alpha val="72941"/>
                    </a:srgbClr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FullStack/</a:t>
              </a:r>
            </a:p>
            <a:p>
              <a:pPr algn="ctr">
                <a:lnSpc>
                  <a:spcPts val="6859"/>
                </a:lnSpc>
              </a:pPr>
              <a:r>
                <a:rPr lang="en-US" b="true" sz="4899" i="true">
                  <a:solidFill>
                    <a:srgbClr val="0C090A">
                      <a:alpha val="72941"/>
                    </a:srgbClr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Database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54718" y="4611588"/>
            <a:ext cx="1535920" cy="1535920"/>
          </a:xfrm>
          <a:custGeom>
            <a:avLst/>
            <a:gdLst/>
            <a:ahLst/>
            <a:cxnLst/>
            <a:rect r="r" b="b" t="t" l="l"/>
            <a:pathLst>
              <a:path h="1535920" w="1535920">
                <a:moveTo>
                  <a:pt x="0" y="0"/>
                </a:moveTo>
                <a:lnTo>
                  <a:pt x="1535920" y="0"/>
                </a:lnTo>
                <a:lnTo>
                  <a:pt x="1535920" y="1535920"/>
                </a:lnTo>
                <a:lnTo>
                  <a:pt x="0" y="1535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738919" y="4629277"/>
            <a:ext cx="1076109" cy="1518231"/>
          </a:xfrm>
          <a:custGeom>
            <a:avLst/>
            <a:gdLst/>
            <a:ahLst/>
            <a:cxnLst/>
            <a:rect r="r" b="b" t="t" l="l"/>
            <a:pathLst>
              <a:path h="1518231" w="1076109">
                <a:moveTo>
                  <a:pt x="0" y="0"/>
                </a:moveTo>
                <a:lnTo>
                  <a:pt x="1076108" y="0"/>
                </a:lnTo>
                <a:lnTo>
                  <a:pt x="1076108" y="1518231"/>
                </a:lnTo>
                <a:lnTo>
                  <a:pt x="0" y="1518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79432" y="6366606"/>
            <a:ext cx="1611206" cy="1611206"/>
          </a:xfrm>
          <a:custGeom>
            <a:avLst/>
            <a:gdLst/>
            <a:ahLst/>
            <a:cxnLst/>
            <a:rect r="r" b="b" t="t" l="l"/>
            <a:pathLst>
              <a:path h="1611206" w="1611206">
                <a:moveTo>
                  <a:pt x="0" y="0"/>
                </a:moveTo>
                <a:lnTo>
                  <a:pt x="1611206" y="0"/>
                </a:lnTo>
                <a:lnTo>
                  <a:pt x="1611206" y="1611205"/>
                </a:lnTo>
                <a:lnTo>
                  <a:pt x="0" y="16112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205293" y="6366606"/>
            <a:ext cx="2143361" cy="1710189"/>
          </a:xfrm>
          <a:custGeom>
            <a:avLst/>
            <a:gdLst/>
            <a:ahLst/>
            <a:cxnLst/>
            <a:rect r="r" b="b" t="t" l="l"/>
            <a:pathLst>
              <a:path h="1710189" w="2143361">
                <a:moveTo>
                  <a:pt x="0" y="0"/>
                </a:moveTo>
                <a:lnTo>
                  <a:pt x="2143361" y="0"/>
                </a:lnTo>
                <a:lnTo>
                  <a:pt x="2143361" y="1710188"/>
                </a:lnTo>
                <a:lnTo>
                  <a:pt x="0" y="1710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2129" y="8435540"/>
            <a:ext cx="4261956" cy="1129418"/>
          </a:xfrm>
          <a:custGeom>
            <a:avLst/>
            <a:gdLst/>
            <a:ahLst/>
            <a:cxnLst/>
            <a:rect r="r" b="b" t="t" l="l"/>
            <a:pathLst>
              <a:path h="1129418" w="4261956">
                <a:moveTo>
                  <a:pt x="0" y="0"/>
                </a:moveTo>
                <a:lnTo>
                  <a:pt x="4261956" y="0"/>
                </a:lnTo>
                <a:lnTo>
                  <a:pt x="4261956" y="1129418"/>
                </a:lnTo>
                <a:lnTo>
                  <a:pt x="0" y="11294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983363" y="4451789"/>
            <a:ext cx="1855517" cy="1855517"/>
          </a:xfrm>
          <a:custGeom>
            <a:avLst/>
            <a:gdLst/>
            <a:ahLst/>
            <a:cxnLst/>
            <a:rect r="r" b="b" t="t" l="l"/>
            <a:pathLst>
              <a:path h="1855517" w="1855517">
                <a:moveTo>
                  <a:pt x="0" y="0"/>
                </a:moveTo>
                <a:lnTo>
                  <a:pt x="1855517" y="0"/>
                </a:lnTo>
                <a:lnTo>
                  <a:pt x="1855517" y="1855517"/>
                </a:lnTo>
                <a:lnTo>
                  <a:pt x="0" y="18555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044934" y="8087131"/>
            <a:ext cx="4319073" cy="1171169"/>
          </a:xfrm>
          <a:custGeom>
            <a:avLst/>
            <a:gdLst/>
            <a:ahLst/>
            <a:cxnLst/>
            <a:rect r="r" b="b" t="t" l="l"/>
            <a:pathLst>
              <a:path h="1171169" w="4319073">
                <a:moveTo>
                  <a:pt x="0" y="0"/>
                </a:moveTo>
                <a:lnTo>
                  <a:pt x="4319073" y="0"/>
                </a:lnTo>
                <a:lnTo>
                  <a:pt x="4319073" y="1171169"/>
                </a:lnTo>
                <a:lnTo>
                  <a:pt x="0" y="11711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983363" y="6570985"/>
            <a:ext cx="4216231" cy="1143653"/>
          </a:xfrm>
          <a:custGeom>
            <a:avLst/>
            <a:gdLst/>
            <a:ahLst/>
            <a:cxnLst/>
            <a:rect r="r" b="b" t="t" l="l"/>
            <a:pathLst>
              <a:path h="1143653" w="4216231">
                <a:moveTo>
                  <a:pt x="0" y="0"/>
                </a:moveTo>
                <a:lnTo>
                  <a:pt x="4216231" y="0"/>
                </a:lnTo>
                <a:lnTo>
                  <a:pt x="4216231" y="1143653"/>
                </a:lnTo>
                <a:lnTo>
                  <a:pt x="0" y="1143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934665" y="4629277"/>
            <a:ext cx="4348089" cy="1787754"/>
          </a:xfrm>
          <a:custGeom>
            <a:avLst/>
            <a:gdLst/>
            <a:ahLst/>
            <a:cxnLst/>
            <a:rect r="r" b="b" t="t" l="l"/>
            <a:pathLst>
              <a:path h="1787754" w="4348089">
                <a:moveTo>
                  <a:pt x="0" y="0"/>
                </a:moveTo>
                <a:lnTo>
                  <a:pt x="4348090" y="0"/>
                </a:lnTo>
                <a:lnTo>
                  <a:pt x="4348090" y="1787754"/>
                </a:lnTo>
                <a:lnTo>
                  <a:pt x="0" y="17877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1803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150319" y="6906762"/>
            <a:ext cx="3916782" cy="2142098"/>
          </a:xfrm>
          <a:custGeom>
            <a:avLst/>
            <a:gdLst/>
            <a:ahLst/>
            <a:cxnLst/>
            <a:rect r="r" b="b" t="t" l="l"/>
            <a:pathLst>
              <a:path h="2142098" w="3916782">
                <a:moveTo>
                  <a:pt x="0" y="0"/>
                </a:moveTo>
                <a:lnTo>
                  <a:pt x="3916782" y="0"/>
                </a:lnTo>
                <a:lnTo>
                  <a:pt x="3916782" y="2142099"/>
                </a:lnTo>
                <a:lnTo>
                  <a:pt x="0" y="214209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54" r="0" b="-54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5400000">
            <a:off x="2587122" y="5870791"/>
            <a:ext cx="7333334" cy="55000"/>
          </a:xfrm>
          <a:custGeom>
            <a:avLst/>
            <a:gdLst/>
            <a:ahLst/>
            <a:cxnLst/>
            <a:rect r="r" b="b" t="t" l="l"/>
            <a:pathLst>
              <a:path h="55000" w="7333334">
                <a:moveTo>
                  <a:pt x="0" y="0"/>
                </a:moveTo>
                <a:lnTo>
                  <a:pt x="7333334" y="0"/>
                </a:lnTo>
                <a:lnTo>
                  <a:pt x="7333334" y="55000"/>
                </a:lnTo>
                <a:lnTo>
                  <a:pt x="0" y="55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5400000">
            <a:off x="8630285" y="5756462"/>
            <a:ext cx="7333334" cy="55000"/>
          </a:xfrm>
          <a:custGeom>
            <a:avLst/>
            <a:gdLst/>
            <a:ahLst/>
            <a:cxnLst/>
            <a:rect r="r" b="b" t="t" l="l"/>
            <a:pathLst>
              <a:path h="55000" w="7333334">
                <a:moveTo>
                  <a:pt x="0" y="0"/>
                </a:moveTo>
                <a:lnTo>
                  <a:pt x="7333334" y="0"/>
                </a:lnTo>
                <a:lnTo>
                  <a:pt x="7333334" y="55000"/>
                </a:lnTo>
                <a:lnTo>
                  <a:pt x="0" y="55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316158" y="702639"/>
            <a:ext cx="11655685" cy="103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 strike="noStrike" u="none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Tech Stack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6158" y="700672"/>
            <a:ext cx="1165568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 strike="noStrike" u="none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Key Features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663825" y="2194107"/>
          <a:ext cx="12960350" cy="7271975"/>
        </p:xfrm>
        <a:graphic>
          <a:graphicData uri="http://schemas.openxmlformats.org/drawingml/2006/table">
            <a:tbl>
              <a:tblPr/>
              <a:tblGrid>
                <a:gridCol w="6604705"/>
                <a:gridCol w="6355645"/>
              </a:tblGrid>
              <a:tr h="1003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50443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Authentication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0443F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Traffic Incidents Info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3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50443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Settings/Profile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0443F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Public Transit Info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3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50443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Location Input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0443F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Weather Forecast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5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50443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Live Map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50443F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Multi-factor Convenience Score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5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50443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Route Generation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b="true" sz="2999">
                          <a:solidFill>
                            <a:srgbClr val="50443F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Scoring Weights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5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50443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Save Routes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50443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Notifications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5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b="true" sz="2999">
                          <a:solidFill>
                            <a:srgbClr val="50443F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Carpark Info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b="true" sz="2999">
                          <a:solidFill>
                            <a:srgbClr val="50443F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API Usage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04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4494727" y="-2770448"/>
            <a:ext cx="6796258" cy="6796258"/>
          </a:xfrm>
          <a:custGeom>
            <a:avLst/>
            <a:gdLst/>
            <a:ahLst/>
            <a:cxnLst/>
            <a:rect r="r" b="b" t="t" l="l"/>
            <a:pathLst>
              <a:path h="6796258" w="6796258">
                <a:moveTo>
                  <a:pt x="0" y="0"/>
                </a:moveTo>
                <a:lnTo>
                  <a:pt x="6796258" y="0"/>
                </a:lnTo>
                <a:lnTo>
                  <a:pt x="6796258" y="6796258"/>
                </a:lnTo>
                <a:lnTo>
                  <a:pt x="0" y="6796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70558" y="7784590"/>
            <a:ext cx="6796258" cy="6796258"/>
          </a:xfrm>
          <a:custGeom>
            <a:avLst/>
            <a:gdLst/>
            <a:ahLst/>
            <a:cxnLst/>
            <a:rect r="r" b="b" t="t" l="l"/>
            <a:pathLst>
              <a:path h="6796258" w="6796258">
                <a:moveTo>
                  <a:pt x="0" y="0"/>
                </a:moveTo>
                <a:lnTo>
                  <a:pt x="6796258" y="0"/>
                </a:lnTo>
                <a:lnTo>
                  <a:pt x="6796258" y="6796257"/>
                </a:lnTo>
                <a:lnTo>
                  <a:pt x="0" y="67962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13180" y="1992111"/>
            <a:ext cx="10471295" cy="7853471"/>
          </a:xfrm>
          <a:custGeom>
            <a:avLst/>
            <a:gdLst/>
            <a:ahLst/>
            <a:cxnLst/>
            <a:rect r="r" b="b" t="t" l="l"/>
            <a:pathLst>
              <a:path h="7853471" w="10471295">
                <a:moveTo>
                  <a:pt x="0" y="0"/>
                </a:moveTo>
                <a:lnTo>
                  <a:pt x="10471295" y="0"/>
                </a:lnTo>
                <a:lnTo>
                  <a:pt x="10471295" y="7853471"/>
                </a:lnTo>
                <a:lnTo>
                  <a:pt x="0" y="7853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316158" y="702639"/>
            <a:ext cx="11655685" cy="103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Use Case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6158" y="700672"/>
            <a:ext cx="1165568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Feature List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32256"/>
            <a:ext cx="16679234" cy="281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1. Multi-Factor Convenience Score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Indicates how convenient a route is based on user preference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Allows user to instantly </a:t>
            </a:r>
            <a:r>
              <a:rPr lang="en-US" b="true" sz="3900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compare route quality</a:t>
            </a: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against personal priorities</a:t>
            </a:r>
          </a:p>
          <a:p>
            <a:pPr algn="l">
              <a:lnSpc>
                <a:spcPts val="44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66896"/>
            <a:ext cx="16679234" cy="225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2. Scoring Weights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User can adjust the importance (weights) of factors to generate routes that reflect </a:t>
            </a:r>
            <a:r>
              <a:rPr lang="en-US" b="true" sz="3900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specific needs </a:t>
            </a: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for users journey</a:t>
            </a:r>
          </a:p>
          <a:p>
            <a:pPr algn="l">
              <a:lnSpc>
                <a:spcPts val="448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330061"/>
            <a:ext cx="17004243" cy="225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7"/>
              </a:lnSpc>
            </a:pP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3. Carpark Info</a:t>
            </a:r>
          </a:p>
          <a:p>
            <a:pPr algn="l" marL="1684843" indent="-561614" lvl="2">
              <a:lnSpc>
                <a:spcPts val="4487"/>
              </a:lnSpc>
              <a:buFont typeface="Arial"/>
              <a:buChar char="⚬"/>
            </a:pP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Solves the final mile issue for car users</a:t>
            </a:r>
          </a:p>
          <a:p>
            <a:pPr algn="l" marL="1684843" indent="-561614" lvl="2">
              <a:lnSpc>
                <a:spcPts val="4487"/>
              </a:lnSpc>
              <a:buFont typeface="Arial"/>
              <a:buChar char="⚬"/>
            </a:pPr>
            <a:r>
              <a:rPr lang="en-US" b="true" sz="3901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Showcases available carparks nearby</a:t>
            </a: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integrated into convenience score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6158" y="700672"/>
            <a:ext cx="1165568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Feature List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71087"/>
            <a:ext cx="16679234" cy="225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3. Authentication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Login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Register</a:t>
            </a:r>
          </a:p>
          <a:p>
            <a:pPr algn="l">
              <a:lnSpc>
                <a:spcPts val="44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53671"/>
            <a:ext cx="16679234" cy="281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4. Location Input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Search bar to input </a:t>
            </a:r>
            <a:r>
              <a:rPr lang="en-US" b="true" sz="3900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start and end location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Search bar can </a:t>
            </a:r>
            <a:r>
              <a:rPr lang="en-US" b="true" sz="3900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auto-complete</a:t>
            </a: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the location inputs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Location can be selected by </a:t>
            </a:r>
            <a:r>
              <a:rPr lang="en-US" b="true" sz="3900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clicking on the map</a:t>
            </a:r>
          </a:p>
          <a:p>
            <a:pPr algn="l">
              <a:lnSpc>
                <a:spcPts val="448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221428"/>
            <a:ext cx="17259300" cy="169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7"/>
              </a:lnSpc>
            </a:pP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6. Live Map</a:t>
            </a:r>
          </a:p>
          <a:p>
            <a:pPr algn="l" marL="1684843" indent="-561614" lvl="2">
              <a:lnSpc>
                <a:spcPts val="4487"/>
              </a:lnSpc>
              <a:buFont typeface="Arial"/>
              <a:buChar char="⚬"/>
            </a:pP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Shows the respective route based on user chosen itenerary.</a:t>
            </a:r>
          </a:p>
          <a:p>
            <a:pPr algn="l" marL="1684843" indent="-561614" lvl="2">
              <a:lnSpc>
                <a:spcPts val="4487"/>
              </a:lnSpc>
              <a:buFont typeface="Arial"/>
              <a:buChar char="⚬"/>
            </a:pP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Traffic incident will be displayed in the 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291651"/>
            <a:ext cx="17259300" cy="169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7"/>
              </a:lnSpc>
              <a:spcBef>
                <a:spcPct val="0"/>
              </a:spcBef>
            </a:pPr>
            <a:r>
              <a:rPr lang="en-US" sz="3901" strike="noStrike" u="none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5. Route Generation</a:t>
            </a:r>
          </a:p>
          <a:p>
            <a:pPr algn="l" marL="1684843" indent="-561614" lvl="2">
              <a:lnSpc>
                <a:spcPts val="4487"/>
              </a:lnSpc>
              <a:spcBef>
                <a:spcPct val="0"/>
              </a:spcBef>
              <a:buFont typeface="Arial"/>
              <a:buChar char="⚬"/>
            </a:pPr>
            <a:r>
              <a:rPr lang="en-US" sz="3901" strike="noStrike" u="none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Generates routes dedicated to mode of transport</a:t>
            </a:r>
          </a:p>
          <a:p>
            <a:pPr algn="l" marL="1684843" indent="-561614" lvl="2">
              <a:lnSpc>
                <a:spcPts val="4487"/>
              </a:lnSpc>
              <a:buFont typeface="Arial"/>
              <a:buChar char="⚬"/>
            </a:pPr>
            <a:r>
              <a:rPr lang="en-US" sz="3901" strike="noStrike" u="none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Has a </a:t>
            </a:r>
            <a:r>
              <a:rPr lang="en-US" b="true" sz="3901" strike="noStrike" u="none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“Best” route</a:t>
            </a:r>
            <a:r>
              <a:rPr lang="en-US" sz="3901" strike="noStrike" u="none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for the user based on personal preferences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6158" y="700672"/>
            <a:ext cx="1165568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Feature List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71087"/>
            <a:ext cx="16679234" cy="225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7. Saved Routes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Save itinerary under </a:t>
            </a:r>
            <a:r>
              <a:rPr lang="en-US" b="true" sz="3900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Saved Routes Tab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View Saved Routes</a:t>
            </a:r>
          </a:p>
          <a:p>
            <a:pPr algn="l">
              <a:lnSpc>
                <a:spcPts val="44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50792"/>
            <a:ext cx="16679234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8. Weather Forecast</a:t>
            </a:r>
          </a:p>
          <a:p>
            <a:pPr algn="l" marL="1684020" indent="-561340" lvl="2">
              <a:lnSpc>
                <a:spcPts val="4484"/>
              </a:lnSpc>
              <a:buFont typeface="Arial"/>
              <a:buChar char="⚬"/>
            </a:pPr>
            <a:r>
              <a:rPr lang="en-US" sz="39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Can be viewed for </a:t>
            </a:r>
            <a:r>
              <a:rPr lang="en-US" b="true" sz="3900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walking routes</a:t>
            </a:r>
          </a:p>
          <a:p>
            <a:pPr algn="l">
              <a:lnSpc>
                <a:spcPts val="448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691259"/>
            <a:ext cx="17259300" cy="169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7"/>
              </a:lnSpc>
            </a:pP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10. Traffic Incident Info</a:t>
            </a:r>
          </a:p>
          <a:p>
            <a:pPr algn="l" marL="1684843" indent="-561614" lvl="2">
              <a:lnSpc>
                <a:spcPts val="4487"/>
              </a:lnSpc>
              <a:buFont typeface="Arial"/>
              <a:buChar char="⚬"/>
            </a:pP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Essential for reliable routing.</a:t>
            </a:r>
          </a:p>
          <a:p>
            <a:pPr algn="l" marL="1684843" indent="-561614" lvl="2">
              <a:lnSpc>
                <a:spcPts val="4487"/>
              </a:lnSpc>
              <a:buFont typeface="Arial"/>
              <a:buChar char="⚬"/>
            </a:pP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Provides updates on </a:t>
            </a:r>
            <a:r>
              <a:rPr lang="en-US" b="true" sz="3901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accidents and road closures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761482"/>
            <a:ext cx="17259300" cy="169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7"/>
              </a:lnSpc>
            </a:pP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9. Public Transit Info</a:t>
            </a:r>
          </a:p>
          <a:p>
            <a:pPr algn="l" marL="1684843" indent="-561614" lvl="2">
              <a:lnSpc>
                <a:spcPts val="4487"/>
              </a:lnSpc>
              <a:buFont typeface="Arial"/>
              <a:buChar char="⚬"/>
            </a:pP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Provide information like </a:t>
            </a:r>
            <a:r>
              <a:rPr lang="en-US" b="true" sz="3901">
                <a:solidFill>
                  <a:srgbClr val="0C090A"/>
                </a:solidFill>
                <a:latin typeface="Barlow Bold"/>
                <a:ea typeface="Barlow Bold"/>
                <a:cs typeface="Barlow Bold"/>
                <a:sym typeface="Barlow Bold"/>
              </a:rPr>
              <a:t>number of transfers</a:t>
            </a:r>
            <a:r>
              <a:rPr lang="en-US" sz="3901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, congestions at platforms etc.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841684" y="727334"/>
            <a:ext cx="1165568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External APIs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5400" y="2017486"/>
            <a:ext cx="16085026" cy="783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6"/>
              </a:lnSpc>
            </a:pPr>
            <a:r>
              <a:rPr lang="en-US" sz="5585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5585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5585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OneMap API</a:t>
            </a:r>
          </a:p>
          <a:p>
            <a:pPr algn="l">
              <a:lnSpc>
                <a:spcPts val="4584"/>
              </a:lnSpc>
            </a:pPr>
            <a:r>
              <a:rPr lang="en-US" sz="3499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   a. Live Map</a:t>
            </a:r>
          </a:p>
          <a:p>
            <a:pPr algn="l">
              <a:lnSpc>
                <a:spcPts val="4584"/>
              </a:lnSpc>
            </a:pPr>
            <a:r>
              <a:rPr lang="en-US" sz="3499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   b. Geocoding</a:t>
            </a:r>
          </a:p>
          <a:p>
            <a:pPr algn="l">
              <a:lnSpc>
                <a:spcPts val="3930"/>
              </a:lnSpc>
            </a:pPr>
          </a:p>
          <a:p>
            <a:pPr algn="l">
              <a:lnSpc>
                <a:spcPts val="7316"/>
              </a:lnSpc>
            </a:pPr>
            <a:r>
              <a:rPr lang="en-US" sz="5585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2.  </a:t>
            </a:r>
            <a:r>
              <a:rPr lang="en-US" sz="5585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Data.gov.sg</a:t>
            </a:r>
          </a:p>
          <a:p>
            <a:pPr algn="l">
              <a:lnSpc>
                <a:spcPts val="4584"/>
              </a:lnSpc>
            </a:pPr>
            <a:r>
              <a:rPr lang="en-US" sz="3499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    a. Weather</a:t>
            </a:r>
          </a:p>
          <a:p>
            <a:pPr algn="l">
              <a:lnSpc>
                <a:spcPts val="3930"/>
              </a:lnSpc>
            </a:pPr>
          </a:p>
          <a:p>
            <a:pPr algn="l">
              <a:lnSpc>
                <a:spcPts val="7316"/>
              </a:lnSpc>
            </a:pPr>
            <a:r>
              <a:rPr lang="en-US" sz="5585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3. </a:t>
            </a:r>
            <a:r>
              <a:rPr lang="en-US" sz="5585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LTA DataMall</a:t>
            </a:r>
          </a:p>
          <a:p>
            <a:pPr algn="l">
              <a:lnSpc>
                <a:spcPts val="4584"/>
              </a:lnSpc>
            </a:pPr>
            <a:r>
              <a:rPr lang="en-US" sz="3499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    a. CarPark Availability</a:t>
            </a:r>
          </a:p>
          <a:p>
            <a:pPr algn="l">
              <a:lnSpc>
                <a:spcPts val="4584"/>
              </a:lnSpc>
            </a:pPr>
            <a:r>
              <a:rPr lang="en-US" sz="3499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    b. Platform Density </a:t>
            </a:r>
          </a:p>
          <a:p>
            <a:pPr algn="l">
              <a:lnSpc>
                <a:spcPts val="4584"/>
              </a:lnSpc>
            </a:pPr>
            <a:r>
              <a:rPr lang="en-US" sz="3499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    c. Traffic Incident </a:t>
            </a:r>
          </a:p>
          <a:p>
            <a:pPr algn="l">
              <a:lnSpc>
                <a:spcPts val="4584"/>
              </a:lnSpc>
            </a:pPr>
            <a:r>
              <a:rPr lang="en-US" sz="3499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     d. Bus Arrival Time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960626" y="0"/>
            <a:ext cx="8327374" cy="10287000"/>
          </a:xfrm>
          <a:custGeom>
            <a:avLst/>
            <a:gdLst/>
            <a:ahLst/>
            <a:cxnLst/>
            <a:rect r="r" b="b" t="t" l="l"/>
            <a:pathLst>
              <a:path h="10287000" w="8327374">
                <a:moveTo>
                  <a:pt x="0" y="0"/>
                </a:moveTo>
                <a:lnTo>
                  <a:pt x="8327374" y="0"/>
                </a:lnTo>
                <a:lnTo>
                  <a:pt x="83273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4209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98906" y="4618208"/>
            <a:ext cx="6890188" cy="101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13"/>
              </a:lnSpc>
              <a:spcBef>
                <a:spcPct val="0"/>
              </a:spcBef>
            </a:pPr>
            <a:r>
              <a:rPr lang="en-US" sz="6446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Live Demo!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4378318" cy="10287000"/>
          </a:xfrm>
          <a:custGeom>
            <a:avLst/>
            <a:gdLst/>
            <a:ahLst/>
            <a:cxnLst/>
            <a:rect r="r" b="b" t="t" l="l"/>
            <a:pathLst>
              <a:path h="10287000" w="4378318">
                <a:moveTo>
                  <a:pt x="0" y="0"/>
                </a:moveTo>
                <a:lnTo>
                  <a:pt x="4378318" y="0"/>
                </a:lnTo>
                <a:lnTo>
                  <a:pt x="43783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7629" t="0" r="-12502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09682" y="0"/>
            <a:ext cx="4378318" cy="10287000"/>
          </a:xfrm>
          <a:custGeom>
            <a:avLst/>
            <a:gdLst/>
            <a:ahLst/>
            <a:cxnLst/>
            <a:rect r="r" b="b" t="t" l="l"/>
            <a:pathLst>
              <a:path h="10287000" w="4378318">
                <a:moveTo>
                  <a:pt x="0" y="0"/>
                </a:moveTo>
                <a:lnTo>
                  <a:pt x="4378318" y="0"/>
                </a:lnTo>
                <a:lnTo>
                  <a:pt x="43783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6711" t="0" r="-35939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35051" y="-1360235"/>
            <a:ext cx="6796258" cy="6796258"/>
          </a:xfrm>
          <a:custGeom>
            <a:avLst/>
            <a:gdLst/>
            <a:ahLst/>
            <a:cxnLst/>
            <a:rect r="r" b="b" t="t" l="l"/>
            <a:pathLst>
              <a:path h="6796258" w="6796258">
                <a:moveTo>
                  <a:pt x="0" y="0"/>
                </a:moveTo>
                <a:lnTo>
                  <a:pt x="6796258" y="0"/>
                </a:lnTo>
                <a:lnTo>
                  <a:pt x="6796258" y="6796258"/>
                </a:lnTo>
                <a:lnTo>
                  <a:pt x="0" y="6796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15676" y="3031252"/>
            <a:ext cx="7637261" cy="7637261"/>
          </a:xfrm>
          <a:custGeom>
            <a:avLst/>
            <a:gdLst/>
            <a:ahLst/>
            <a:cxnLst/>
            <a:rect r="r" b="b" t="t" l="l"/>
            <a:pathLst>
              <a:path h="7637261" w="7637261">
                <a:moveTo>
                  <a:pt x="0" y="0"/>
                </a:moveTo>
                <a:lnTo>
                  <a:pt x="7637261" y="0"/>
                </a:lnTo>
                <a:lnTo>
                  <a:pt x="7637261" y="7637261"/>
                </a:lnTo>
                <a:lnTo>
                  <a:pt x="0" y="7637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28098" y="6599328"/>
            <a:ext cx="11563739" cy="173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5"/>
              </a:lnSpc>
              <a:spcBef>
                <a:spcPct val="0"/>
              </a:spcBef>
            </a:pPr>
            <a:r>
              <a:rPr lang="en-US" sz="5700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Software Engineering Practices and Design Patterns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5848" y="1200251"/>
            <a:ext cx="7496303" cy="6678525"/>
          </a:xfrm>
          <a:custGeom>
            <a:avLst/>
            <a:gdLst/>
            <a:ahLst/>
            <a:cxnLst/>
            <a:rect r="r" b="b" t="t" l="l"/>
            <a:pathLst>
              <a:path h="6678525" w="7496303">
                <a:moveTo>
                  <a:pt x="0" y="0"/>
                </a:moveTo>
                <a:lnTo>
                  <a:pt x="7496304" y="0"/>
                </a:lnTo>
                <a:lnTo>
                  <a:pt x="7496304" y="6678525"/>
                </a:lnTo>
                <a:lnTo>
                  <a:pt x="0" y="6678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15964" y="8183779"/>
            <a:ext cx="14256072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5"/>
              </a:lnSpc>
              <a:spcBef>
                <a:spcPct val="0"/>
              </a:spcBef>
            </a:pPr>
            <a:r>
              <a:rPr lang="en-US" sz="5700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Design Patterns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6158" y="700672"/>
            <a:ext cx="1165568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Factory Pattern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7461" y="2795973"/>
            <a:ext cx="17873079" cy="6462327"/>
          </a:xfrm>
          <a:custGeom>
            <a:avLst/>
            <a:gdLst/>
            <a:ahLst/>
            <a:cxnLst/>
            <a:rect r="r" b="b" t="t" l="l"/>
            <a:pathLst>
              <a:path h="6462327" w="17873079">
                <a:moveTo>
                  <a:pt x="0" y="0"/>
                </a:moveTo>
                <a:lnTo>
                  <a:pt x="17873078" y="0"/>
                </a:lnTo>
                <a:lnTo>
                  <a:pt x="17873078" y="6462327"/>
                </a:lnTo>
                <a:lnTo>
                  <a:pt x="0" y="64623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357" y="2239618"/>
            <a:ext cx="17119285" cy="7018682"/>
          </a:xfrm>
          <a:custGeom>
            <a:avLst/>
            <a:gdLst/>
            <a:ahLst/>
            <a:cxnLst/>
            <a:rect r="r" b="b" t="t" l="l"/>
            <a:pathLst>
              <a:path h="7018682" w="17119285">
                <a:moveTo>
                  <a:pt x="0" y="0"/>
                </a:moveTo>
                <a:lnTo>
                  <a:pt x="17119286" y="0"/>
                </a:lnTo>
                <a:lnTo>
                  <a:pt x="17119286" y="7018682"/>
                </a:lnTo>
                <a:lnTo>
                  <a:pt x="0" y="7018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16158" y="700672"/>
            <a:ext cx="1165568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Strategy Pattern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5247" y="4349842"/>
            <a:ext cx="15137860" cy="2082726"/>
          </a:xfrm>
          <a:custGeom>
            <a:avLst/>
            <a:gdLst/>
            <a:ahLst/>
            <a:cxnLst/>
            <a:rect r="r" b="b" t="t" l="l"/>
            <a:pathLst>
              <a:path h="2082726" w="15137860">
                <a:moveTo>
                  <a:pt x="0" y="0"/>
                </a:moveTo>
                <a:lnTo>
                  <a:pt x="15137859" y="0"/>
                </a:lnTo>
                <a:lnTo>
                  <a:pt x="15137859" y="2082726"/>
                </a:lnTo>
                <a:lnTo>
                  <a:pt x="0" y="2082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16158" y="700672"/>
            <a:ext cx="1165568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Observer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59392" y="3601237"/>
            <a:ext cx="3008412" cy="46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  <a:spcBef>
                <a:spcPct val="0"/>
              </a:spcBef>
            </a:pPr>
            <a:r>
              <a:rPr lang="en-US" sz="3212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Observer Pattern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7715" y="3601237"/>
            <a:ext cx="3008412" cy="46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  <a:spcBef>
                <a:spcPct val="0"/>
              </a:spcBef>
            </a:pPr>
            <a:r>
              <a:rPr lang="en-US" sz="3212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Observer Pattern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2795181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1513" y="4161783"/>
            <a:ext cx="14794629" cy="2182208"/>
          </a:xfrm>
          <a:custGeom>
            <a:avLst/>
            <a:gdLst/>
            <a:ahLst/>
            <a:cxnLst/>
            <a:rect r="r" b="b" t="t" l="l"/>
            <a:pathLst>
              <a:path h="2182208" w="14794629">
                <a:moveTo>
                  <a:pt x="0" y="0"/>
                </a:moveTo>
                <a:lnTo>
                  <a:pt x="14794630" y="0"/>
                </a:lnTo>
                <a:lnTo>
                  <a:pt x="14794630" y="2182208"/>
                </a:lnTo>
                <a:lnTo>
                  <a:pt x="0" y="2182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16158" y="700672"/>
            <a:ext cx="1165568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Facade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27036" y="3693707"/>
            <a:ext cx="4079230" cy="46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  <a:spcBef>
                <a:spcPct val="0"/>
              </a:spcBef>
            </a:pPr>
            <a:r>
              <a:rPr lang="en-US" sz="3212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Future Extensionability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70168" y="3693707"/>
            <a:ext cx="2692598" cy="46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  <a:spcBef>
                <a:spcPct val="0"/>
              </a:spcBef>
            </a:pPr>
            <a:r>
              <a:rPr lang="en-US" sz="3212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Facade Pattern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397415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1517" y="2498885"/>
            <a:ext cx="3086100" cy="1683323"/>
            <a:chOff x="0" y="0"/>
            <a:chExt cx="812800" cy="443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443344"/>
            </a:xfrm>
            <a:custGeom>
              <a:avLst/>
              <a:gdLst/>
              <a:ahLst/>
              <a:cxnLst/>
              <a:rect r="r" b="b" t="t" l="l"/>
              <a:pathLst>
                <a:path h="44334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15404"/>
                  </a:lnTo>
                  <a:cubicBezTo>
                    <a:pt x="812800" y="349336"/>
                    <a:pt x="799321" y="381878"/>
                    <a:pt x="775327" y="405871"/>
                  </a:cubicBezTo>
                  <a:cubicBezTo>
                    <a:pt x="751333" y="429865"/>
                    <a:pt x="718791" y="443344"/>
                    <a:pt x="684859" y="443344"/>
                  </a:cubicBezTo>
                  <a:lnTo>
                    <a:pt x="127941" y="443344"/>
                  </a:lnTo>
                  <a:cubicBezTo>
                    <a:pt x="94009" y="443344"/>
                    <a:pt x="61467" y="429865"/>
                    <a:pt x="37473" y="405871"/>
                  </a:cubicBezTo>
                  <a:cubicBezTo>
                    <a:pt x="13479" y="381878"/>
                    <a:pt x="0" y="349336"/>
                    <a:pt x="0" y="31540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481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Single Responsibility Principle (SRP)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1517" y="5167104"/>
            <a:ext cx="3086100" cy="1683323"/>
            <a:chOff x="0" y="0"/>
            <a:chExt cx="812800" cy="443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43344"/>
            </a:xfrm>
            <a:custGeom>
              <a:avLst/>
              <a:gdLst/>
              <a:ahLst/>
              <a:cxnLst/>
              <a:rect r="r" b="b" t="t" l="l"/>
              <a:pathLst>
                <a:path h="44334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15404"/>
                  </a:lnTo>
                  <a:cubicBezTo>
                    <a:pt x="812800" y="349336"/>
                    <a:pt x="799321" y="381878"/>
                    <a:pt x="775327" y="405871"/>
                  </a:cubicBezTo>
                  <a:cubicBezTo>
                    <a:pt x="751333" y="429865"/>
                    <a:pt x="718791" y="443344"/>
                    <a:pt x="684859" y="443344"/>
                  </a:cubicBezTo>
                  <a:lnTo>
                    <a:pt x="127941" y="443344"/>
                  </a:lnTo>
                  <a:cubicBezTo>
                    <a:pt x="94009" y="443344"/>
                    <a:pt x="61467" y="429865"/>
                    <a:pt x="37473" y="405871"/>
                  </a:cubicBezTo>
                  <a:cubicBezTo>
                    <a:pt x="13479" y="381878"/>
                    <a:pt x="0" y="349336"/>
                    <a:pt x="0" y="31540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481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Open-Closed Principle (OCP)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1517" y="7835322"/>
            <a:ext cx="3086100" cy="1683323"/>
            <a:chOff x="0" y="0"/>
            <a:chExt cx="812800" cy="443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43344"/>
            </a:xfrm>
            <a:custGeom>
              <a:avLst/>
              <a:gdLst/>
              <a:ahLst/>
              <a:cxnLst/>
              <a:rect r="r" b="b" t="t" l="l"/>
              <a:pathLst>
                <a:path h="44334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15404"/>
                  </a:lnTo>
                  <a:cubicBezTo>
                    <a:pt x="812800" y="349336"/>
                    <a:pt x="799321" y="381878"/>
                    <a:pt x="775327" y="405871"/>
                  </a:cubicBezTo>
                  <a:cubicBezTo>
                    <a:pt x="751333" y="429865"/>
                    <a:pt x="718791" y="443344"/>
                    <a:pt x="684859" y="443344"/>
                  </a:cubicBezTo>
                  <a:lnTo>
                    <a:pt x="127941" y="443344"/>
                  </a:lnTo>
                  <a:cubicBezTo>
                    <a:pt x="94009" y="443344"/>
                    <a:pt x="61467" y="429865"/>
                    <a:pt x="37473" y="405871"/>
                  </a:cubicBezTo>
                  <a:cubicBezTo>
                    <a:pt x="13479" y="381878"/>
                    <a:pt x="0" y="349336"/>
                    <a:pt x="0" y="31540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481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Dependency Inversion Principle (DIP) 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931517" y="4674656"/>
            <a:ext cx="1632778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31517" y="7342874"/>
            <a:ext cx="1632778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4358136" y="2498885"/>
            <a:ext cx="0" cy="70697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1389295" y="2583903"/>
            <a:ext cx="0" cy="70697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3316158" y="700672"/>
            <a:ext cx="12913347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Design Principles(SOLID)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52270" y="3017495"/>
            <a:ext cx="5642890" cy="866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970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Each API route handles one specific job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20781" y="2915966"/>
            <a:ext cx="5726046" cy="126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900" indent="-313950" lvl="1">
              <a:lnSpc>
                <a:spcPts val="3344"/>
              </a:lnSpc>
              <a:buFont typeface="Arial"/>
              <a:buChar char="•"/>
            </a:pPr>
            <a:r>
              <a:rPr lang="en-US" b="true" sz="2908">
                <a:solidFill>
                  <a:srgbClr val="0C090A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Easier debugging</a:t>
            </a:r>
            <a:r>
              <a:rPr lang="en-US" sz="29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and error handling</a:t>
            </a:r>
          </a:p>
          <a:p>
            <a:pPr algn="l" marL="627900" indent="-313950" lvl="1">
              <a:lnSpc>
                <a:spcPts val="3344"/>
              </a:lnSpc>
              <a:buFont typeface="Arial"/>
              <a:buChar char="•"/>
            </a:pPr>
            <a:r>
              <a:rPr lang="en-US" sz="29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More </a:t>
            </a:r>
            <a:r>
              <a:rPr lang="en-US" b="true" sz="2908">
                <a:solidFill>
                  <a:srgbClr val="0C090A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reusablility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51080" y="5690272"/>
            <a:ext cx="5642890" cy="866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970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Add new route type without touching core logic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20781" y="4961306"/>
            <a:ext cx="5726046" cy="21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900" indent="-313950" lvl="1">
              <a:lnSpc>
                <a:spcPts val="3344"/>
              </a:lnSpc>
              <a:buFont typeface="Arial"/>
              <a:buChar char="•"/>
            </a:pPr>
            <a:r>
              <a:rPr lang="en-US" sz="29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Prevent merge conflicts </a:t>
            </a:r>
            <a:r>
              <a:rPr lang="en-US" b="true" sz="2908">
                <a:solidFill>
                  <a:srgbClr val="0C090A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(More Scalable)</a:t>
            </a:r>
          </a:p>
          <a:p>
            <a:pPr algn="l" marL="627900" indent="-313950" lvl="1">
              <a:lnSpc>
                <a:spcPts val="3344"/>
              </a:lnSpc>
              <a:buFont typeface="Arial"/>
              <a:buChar char="•"/>
            </a:pPr>
            <a:r>
              <a:rPr lang="en-US" sz="29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R</a:t>
            </a:r>
            <a:r>
              <a:rPr lang="en-US" sz="29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educe risk of breaking code(closed for modification)</a:t>
            </a:r>
          </a:p>
          <a:p>
            <a:pPr algn="l" marL="627900" indent="-313950" lvl="1">
              <a:lnSpc>
                <a:spcPts val="3344"/>
              </a:lnSpc>
              <a:buFont typeface="Arial"/>
              <a:buChar char="•"/>
            </a:pPr>
            <a:r>
              <a:rPr lang="en-US" sz="29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Open for </a:t>
            </a:r>
            <a:r>
              <a:rPr lang="en-US" b="true" sz="2908">
                <a:solidFill>
                  <a:srgbClr val="0C090A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extension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51080" y="7844847"/>
            <a:ext cx="5642890" cy="172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970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High level and low level components (controllers etc..) depends on abstractions through the use of the interfaces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20781" y="7864094"/>
            <a:ext cx="5726046" cy="168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900" indent="-313950" lvl="1">
              <a:lnSpc>
                <a:spcPts val="3344"/>
              </a:lnSpc>
              <a:buFont typeface="Arial"/>
              <a:buChar char="•"/>
            </a:pPr>
            <a:r>
              <a:rPr lang="en-US" b="true" sz="2908">
                <a:solidFill>
                  <a:srgbClr val="0C090A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Cleaner code</a:t>
            </a:r>
            <a:r>
              <a:rPr lang="en-US" sz="29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and easier for teams to work on simultaneously.</a:t>
            </a:r>
          </a:p>
          <a:p>
            <a:pPr algn="l" marL="627900" indent="-313950" lvl="1">
              <a:lnSpc>
                <a:spcPts val="3344"/>
              </a:lnSpc>
              <a:buFont typeface="Arial"/>
              <a:buChar char="•"/>
            </a:pPr>
            <a:r>
              <a:rPr lang="en-US" sz="29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Flexible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5848" y="1200251"/>
            <a:ext cx="7496303" cy="6678525"/>
          </a:xfrm>
          <a:custGeom>
            <a:avLst/>
            <a:gdLst/>
            <a:ahLst/>
            <a:cxnLst/>
            <a:rect r="r" b="b" t="t" l="l"/>
            <a:pathLst>
              <a:path h="6678525" w="7496303">
                <a:moveTo>
                  <a:pt x="0" y="0"/>
                </a:moveTo>
                <a:lnTo>
                  <a:pt x="7496304" y="0"/>
                </a:lnTo>
                <a:lnTo>
                  <a:pt x="7496304" y="6678525"/>
                </a:lnTo>
                <a:lnTo>
                  <a:pt x="0" y="6678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15964" y="8183779"/>
            <a:ext cx="14256072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5"/>
              </a:lnSpc>
              <a:spcBef>
                <a:spcPct val="0"/>
              </a:spcBef>
            </a:pPr>
            <a:r>
              <a:rPr lang="en-US" sz="5700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Good SWE Practices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4435" y="2318003"/>
            <a:ext cx="9014814" cy="7057890"/>
          </a:xfrm>
          <a:custGeom>
            <a:avLst/>
            <a:gdLst/>
            <a:ahLst/>
            <a:cxnLst/>
            <a:rect r="r" b="b" t="t" l="l"/>
            <a:pathLst>
              <a:path h="7057890" w="9014814">
                <a:moveTo>
                  <a:pt x="0" y="0"/>
                </a:moveTo>
                <a:lnTo>
                  <a:pt x="9014815" y="0"/>
                </a:lnTo>
                <a:lnTo>
                  <a:pt x="9014815" y="7057890"/>
                </a:lnTo>
                <a:lnTo>
                  <a:pt x="0" y="7057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74" t="-1107" r="-370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34456" y="700672"/>
            <a:ext cx="13219087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Documentation - README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30449" y="4521065"/>
            <a:ext cx="6940353" cy="187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0"/>
              </a:lnSpc>
            </a:pPr>
            <a:r>
              <a:rPr lang="en-US" sz="3578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Future guide for developers, to ensure long-term consistency in developments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47661" y="1910335"/>
            <a:ext cx="8203974" cy="7206266"/>
          </a:xfrm>
          <a:custGeom>
            <a:avLst/>
            <a:gdLst/>
            <a:ahLst/>
            <a:cxnLst/>
            <a:rect r="r" b="b" t="t" l="l"/>
            <a:pathLst>
              <a:path h="7206266" w="8203974">
                <a:moveTo>
                  <a:pt x="0" y="0"/>
                </a:moveTo>
                <a:lnTo>
                  <a:pt x="8203974" y="0"/>
                </a:lnTo>
                <a:lnTo>
                  <a:pt x="8203974" y="7206266"/>
                </a:lnTo>
                <a:lnTo>
                  <a:pt x="0" y="7206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87" t="0" r="0" b="-4034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03902" y="700672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Documentation - Comments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03215" y="9211851"/>
            <a:ext cx="9681571" cy="61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0"/>
              </a:lnSpc>
            </a:pPr>
            <a:r>
              <a:rPr lang="en-US" sz="3578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For better comprehension and understanding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24909" y="2679799"/>
            <a:ext cx="8047838" cy="5718200"/>
          </a:xfrm>
          <a:custGeom>
            <a:avLst/>
            <a:gdLst/>
            <a:ahLst/>
            <a:cxnLst/>
            <a:rect r="r" b="b" t="t" l="l"/>
            <a:pathLst>
              <a:path h="5718200" w="8047838">
                <a:moveTo>
                  <a:pt x="0" y="0"/>
                </a:moveTo>
                <a:lnTo>
                  <a:pt x="8047838" y="0"/>
                </a:lnTo>
                <a:lnTo>
                  <a:pt x="8047838" y="5718200"/>
                </a:lnTo>
                <a:lnTo>
                  <a:pt x="0" y="5718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99137" y="1928553"/>
            <a:ext cx="12099381" cy="474942"/>
          </a:xfrm>
          <a:custGeom>
            <a:avLst/>
            <a:gdLst/>
            <a:ahLst/>
            <a:cxnLst/>
            <a:rect r="r" b="b" t="t" l="l"/>
            <a:pathLst>
              <a:path h="474942" w="12099381">
                <a:moveTo>
                  <a:pt x="0" y="0"/>
                </a:moveTo>
                <a:lnTo>
                  <a:pt x="12099381" y="0"/>
                </a:lnTo>
                <a:lnTo>
                  <a:pt x="12099381" y="474942"/>
                </a:lnTo>
                <a:lnTo>
                  <a:pt x="0" y="474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827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03902" y="700672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Strong Typing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83749"/>
            <a:ext cx="16028972" cy="82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Since we are using typescript, we must always avoid using “any” unless its for well-justified fallback cases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97965" y="2512572"/>
            <a:ext cx="4850291" cy="4850291"/>
          </a:xfrm>
          <a:custGeom>
            <a:avLst/>
            <a:gdLst/>
            <a:ahLst/>
            <a:cxnLst/>
            <a:rect r="r" b="b" t="t" l="l"/>
            <a:pathLst>
              <a:path h="4850291" w="4850291">
                <a:moveTo>
                  <a:pt x="0" y="0"/>
                </a:moveTo>
                <a:lnTo>
                  <a:pt x="4850291" y="0"/>
                </a:lnTo>
                <a:lnTo>
                  <a:pt x="4850291" y="4850291"/>
                </a:lnTo>
                <a:lnTo>
                  <a:pt x="0" y="4850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02264" y="2732954"/>
            <a:ext cx="1319537" cy="1319537"/>
          </a:xfrm>
          <a:custGeom>
            <a:avLst/>
            <a:gdLst/>
            <a:ahLst/>
            <a:cxnLst/>
            <a:rect r="r" b="b" t="t" l="l"/>
            <a:pathLst>
              <a:path h="1319537" w="1319537">
                <a:moveTo>
                  <a:pt x="0" y="0"/>
                </a:moveTo>
                <a:lnTo>
                  <a:pt x="1319537" y="0"/>
                </a:lnTo>
                <a:lnTo>
                  <a:pt x="1319537" y="1319537"/>
                </a:lnTo>
                <a:lnTo>
                  <a:pt x="0" y="13195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02264" y="5048464"/>
            <a:ext cx="1319537" cy="1319537"/>
          </a:xfrm>
          <a:custGeom>
            <a:avLst/>
            <a:gdLst/>
            <a:ahLst/>
            <a:cxnLst/>
            <a:rect r="r" b="b" t="t" l="l"/>
            <a:pathLst>
              <a:path h="1319537" w="1319537">
                <a:moveTo>
                  <a:pt x="0" y="0"/>
                </a:moveTo>
                <a:lnTo>
                  <a:pt x="1319537" y="0"/>
                </a:lnTo>
                <a:lnTo>
                  <a:pt x="1319537" y="1319537"/>
                </a:lnTo>
                <a:lnTo>
                  <a:pt x="0" y="13195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02264" y="7368126"/>
            <a:ext cx="1319537" cy="1319537"/>
          </a:xfrm>
          <a:custGeom>
            <a:avLst/>
            <a:gdLst/>
            <a:ahLst/>
            <a:cxnLst/>
            <a:rect r="r" b="b" t="t" l="l"/>
            <a:pathLst>
              <a:path h="1319537" w="1319537">
                <a:moveTo>
                  <a:pt x="0" y="0"/>
                </a:moveTo>
                <a:lnTo>
                  <a:pt x="1319537" y="0"/>
                </a:lnTo>
                <a:lnTo>
                  <a:pt x="1319537" y="1319537"/>
                </a:lnTo>
                <a:lnTo>
                  <a:pt x="0" y="13195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1584" y="6598772"/>
            <a:ext cx="6943053" cy="2890046"/>
          </a:xfrm>
          <a:custGeom>
            <a:avLst/>
            <a:gdLst/>
            <a:ahLst/>
            <a:cxnLst/>
            <a:rect r="r" b="b" t="t" l="l"/>
            <a:pathLst>
              <a:path h="2890046" w="6943053">
                <a:moveTo>
                  <a:pt x="0" y="0"/>
                </a:moveTo>
                <a:lnTo>
                  <a:pt x="6943053" y="0"/>
                </a:lnTo>
                <a:lnTo>
                  <a:pt x="6943053" y="2890046"/>
                </a:lnTo>
                <a:lnTo>
                  <a:pt x="0" y="28900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3902" y="700672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Code Style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69493" y="3047649"/>
            <a:ext cx="6044105" cy="61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3578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Ensures Code Quality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008263"/>
            <a:ext cx="1649667" cy="67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b="true" sz="4334">
                <a:solidFill>
                  <a:srgbClr val="50443F"/>
                </a:solidFill>
                <a:latin typeface="Exo 2 Bold"/>
                <a:ea typeface="Exo 2 Bold"/>
                <a:cs typeface="Exo 2 Bold"/>
                <a:sym typeface="Exo 2 Bold"/>
              </a:rPr>
              <a:t>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5323773"/>
            <a:ext cx="1649667" cy="67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b="true" sz="4334">
                <a:solidFill>
                  <a:srgbClr val="50443F"/>
                </a:solidFill>
                <a:latin typeface="Exo 2 Bold"/>
                <a:ea typeface="Exo 2 Bold"/>
                <a:cs typeface="Exo 2 Bold"/>
                <a:sym typeface="Exo 2 Bold"/>
              </a:rPr>
              <a:t>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7643435"/>
            <a:ext cx="1649667" cy="67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b="true" sz="4334">
                <a:solidFill>
                  <a:srgbClr val="50443F"/>
                </a:solidFill>
                <a:latin typeface="Exo 2 Bold"/>
                <a:ea typeface="Exo 2 Bold"/>
                <a:cs typeface="Exo 2 Bold"/>
                <a:sym typeface="Exo 2 Bold"/>
              </a:rPr>
              <a:t>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69493" y="5048834"/>
            <a:ext cx="6044105" cy="124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3578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Enforces Coding Style and Consistency (Linting)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9493" y="7330083"/>
            <a:ext cx="6044105" cy="99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47"/>
              </a:lnSpc>
            </a:pPr>
            <a:r>
              <a:rPr lang="en-US" sz="3578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Identify Problematic Patterns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2554" y="8111288"/>
            <a:ext cx="8691446" cy="1799744"/>
          </a:xfrm>
          <a:custGeom>
            <a:avLst/>
            <a:gdLst/>
            <a:ahLst/>
            <a:cxnLst/>
            <a:rect r="r" b="b" t="t" l="l"/>
            <a:pathLst>
              <a:path h="1799744" w="8691446">
                <a:moveTo>
                  <a:pt x="0" y="0"/>
                </a:moveTo>
                <a:lnTo>
                  <a:pt x="8691446" y="0"/>
                </a:lnTo>
                <a:lnTo>
                  <a:pt x="8691446" y="1799744"/>
                </a:lnTo>
                <a:lnTo>
                  <a:pt x="0" y="1799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2554" y="6286256"/>
            <a:ext cx="6995327" cy="1748832"/>
          </a:xfrm>
          <a:custGeom>
            <a:avLst/>
            <a:gdLst/>
            <a:ahLst/>
            <a:cxnLst/>
            <a:rect r="r" b="b" t="t" l="l"/>
            <a:pathLst>
              <a:path h="1748832" w="6995327">
                <a:moveTo>
                  <a:pt x="0" y="0"/>
                </a:moveTo>
                <a:lnTo>
                  <a:pt x="6995327" y="0"/>
                </a:lnTo>
                <a:lnTo>
                  <a:pt x="6995327" y="1748832"/>
                </a:lnTo>
                <a:lnTo>
                  <a:pt x="0" y="17488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2554" y="4076944"/>
            <a:ext cx="11301259" cy="2133113"/>
          </a:xfrm>
          <a:custGeom>
            <a:avLst/>
            <a:gdLst/>
            <a:ahLst/>
            <a:cxnLst/>
            <a:rect r="r" b="b" t="t" l="l"/>
            <a:pathLst>
              <a:path h="2133113" w="11301259">
                <a:moveTo>
                  <a:pt x="0" y="0"/>
                </a:moveTo>
                <a:lnTo>
                  <a:pt x="11301259" y="0"/>
                </a:lnTo>
                <a:lnTo>
                  <a:pt x="11301259" y="2133112"/>
                </a:lnTo>
                <a:lnTo>
                  <a:pt x="0" y="21331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2554" y="1736981"/>
            <a:ext cx="11301259" cy="2260252"/>
          </a:xfrm>
          <a:custGeom>
            <a:avLst/>
            <a:gdLst/>
            <a:ahLst/>
            <a:cxnLst/>
            <a:rect r="r" b="b" t="t" l="l"/>
            <a:pathLst>
              <a:path h="2260252" w="11301259">
                <a:moveTo>
                  <a:pt x="0" y="0"/>
                </a:moveTo>
                <a:lnTo>
                  <a:pt x="11301259" y="0"/>
                </a:lnTo>
                <a:lnTo>
                  <a:pt x="11301259" y="2260252"/>
                </a:lnTo>
                <a:lnTo>
                  <a:pt x="0" y="22602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3902" y="700672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Reusability and Refactoring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96713" y="2458141"/>
            <a:ext cx="6491287" cy="82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define the MapDisplayHandle (the reusable public API the parent can call)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96713" y="4734534"/>
            <a:ext cx="6491287" cy="82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compo</a:t>
            </a: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nent is wrapped with forwardRef so a parent may attach a ref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8828" y="7421334"/>
            <a:ext cx="6491287" cy="1237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useImp</a:t>
            </a: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erativeHandle exposes only the small set of imperative methods (map getter, panTo, clearPolylines)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03902" y="700672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Reusability and Refactoring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862058" y="2100756"/>
            <a:ext cx="6875818" cy="6793769"/>
          </a:xfrm>
          <a:custGeom>
            <a:avLst/>
            <a:gdLst/>
            <a:ahLst/>
            <a:cxnLst/>
            <a:rect r="r" b="b" t="t" l="l"/>
            <a:pathLst>
              <a:path h="6793769" w="6875818">
                <a:moveTo>
                  <a:pt x="0" y="0"/>
                </a:moveTo>
                <a:lnTo>
                  <a:pt x="6875818" y="0"/>
                </a:lnTo>
                <a:lnTo>
                  <a:pt x="6875818" y="6793769"/>
                </a:lnTo>
                <a:lnTo>
                  <a:pt x="0" y="6793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67" t="-34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59780" y="2100756"/>
            <a:ext cx="6302278" cy="6767977"/>
          </a:xfrm>
          <a:custGeom>
            <a:avLst/>
            <a:gdLst/>
            <a:ahLst/>
            <a:cxnLst/>
            <a:rect r="r" b="b" t="t" l="l"/>
            <a:pathLst>
              <a:path h="6767977" w="6302278">
                <a:moveTo>
                  <a:pt x="0" y="0"/>
                </a:moveTo>
                <a:lnTo>
                  <a:pt x="6302278" y="0"/>
                </a:lnTo>
                <a:lnTo>
                  <a:pt x="6302278" y="6767977"/>
                </a:lnTo>
                <a:lnTo>
                  <a:pt x="0" y="67679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36" t="0" r="0" b="-7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3009" y="9267825"/>
            <a:ext cx="11101983" cy="41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h</a:t>
            </a: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ook centralises itinerary fetching + scoring + transformation (reuse)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4296" y="2150688"/>
            <a:ext cx="6927954" cy="6146983"/>
          </a:xfrm>
          <a:custGeom>
            <a:avLst/>
            <a:gdLst/>
            <a:ahLst/>
            <a:cxnLst/>
            <a:rect r="r" b="b" t="t" l="l"/>
            <a:pathLst>
              <a:path h="6146983" w="6927954">
                <a:moveTo>
                  <a:pt x="0" y="0"/>
                </a:moveTo>
                <a:lnTo>
                  <a:pt x="6927954" y="0"/>
                </a:lnTo>
                <a:lnTo>
                  <a:pt x="6927954" y="6146983"/>
                </a:lnTo>
                <a:lnTo>
                  <a:pt x="0" y="6146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21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22250" y="2150688"/>
            <a:ext cx="9381110" cy="6146983"/>
          </a:xfrm>
          <a:custGeom>
            <a:avLst/>
            <a:gdLst/>
            <a:ahLst/>
            <a:cxnLst/>
            <a:rect r="r" b="b" t="t" l="l"/>
            <a:pathLst>
              <a:path h="6146983" w="9381110">
                <a:moveTo>
                  <a:pt x="0" y="0"/>
                </a:moveTo>
                <a:lnTo>
                  <a:pt x="9381109" y="0"/>
                </a:lnTo>
                <a:lnTo>
                  <a:pt x="9381109" y="6146983"/>
                </a:lnTo>
                <a:lnTo>
                  <a:pt x="0" y="6146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59" t="-759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03902" y="700672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Reusability and Refactoring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4342" y="8439759"/>
            <a:ext cx="16028972" cy="164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n</a:t>
            </a: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ormalization, Bound, and ConvenienceScore encapsulate scoring logic and make it reusable across itinerary types (reuse)</a:t>
            </a:r>
          </a:p>
          <a:p>
            <a:pPr algn="ctr">
              <a:lnSpc>
                <a:spcPts val="3229"/>
              </a:lnSpc>
              <a:spcBef>
                <a:spcPct val="0"/>
              </a:spcBef>
            </a:pPr>
          </a:p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sz="2808">
                <a:solidFill>
                  <a:srgbClr val="0C090A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computeScore is a single place to change scoring behavior (refactor).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3886" y="2325904"/>
            <a:ext cx="9107271" cy="6334366"/>
          </a:xfrm>
          <a:custGeom>
            <a:avLst/>
            <a:gdLst/>
            <a:ahLst/>
            <a:cxnLst/>
            <a:rect r="r" b="b" t="t" l="l"/>
            <a:pathLst>
              <a:path h="6334366" w="9107271">
                <a:moveTo>
                  <a:pt x="0" y="0"/>
                </a:moveTo>
                <a:lnTo>
                  <a:pt x="9107270" y="0"/>
                </a:lnTo>
                <a:lnTo>
                  <a:pt x="9107270" y="6334366"/>
                </a:lnTo>
                <a:lnTo>
                  <a:pt x="0" y="6334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32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03902" y="717993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SCRUM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85434" y="3574184"/>
            <a:ext cx="7929888" cy="384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4378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Clear Transparency and Visibility among the team</a:t>
            </a:r>
          </a:p>
          <a:p>
            <a:pPr algn="l">
              <a:lnSpc>
                <a:spcPts val="5035"/>
              </a:lnSpc>
            </a:pPr>
          </a:p>
          <a:p>
            <a:pPr algn="l">
              <a:lnSpc>
                <a:spcPts val="5035"/>
              </a:lnSpc>
            </a:pPr>
            <a:r>
              <a:rPr lang="en-US" sz="4378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Flexible Product Backlog</a:t>
            </a:r>
          </a:p>
          <a:p>
            <a:pPr algn="l">
              <a:lnSpc>
                <a:spcPts val="5035"/>
              </a:lnSpc>
            </a:pPr>
          </a:p>
          <a:p>
            <a:pPr algn="l">
              <a:lnSpc>
                <a:spcPts val="5035"/>
              </a:lnSpc>
            </a:pPr>
            <a:r>
              <a:rPr lang="en-US" sz="4378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Faster Delivery (2 - 4 weeks)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2906900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96411" y="125730"/>
            <a:ext cx="12037897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5"/>
              </a:lnSpc>
              <a:spcBef>
                <a:spcPct val="0"/>
              </a:spcBef>
            </a:pPr>
            <a:r>
              <a:rPr lang="en-US" sz="5700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System Architecture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939489" y="1028700"/>
            <a:ext cx="10151740" cy="9251781"/>
            <a:chOff x="0" y="0"/>
            <a:chExt cx="13535653" cy="123357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35653" cy="12335708"/>
            </a:xfrm>
            <a:custGeom>
              <a:avLst/>
              <a:gdLst/>
              <a:ahLst/>
              <a:cxnLst/>
              <a:rect r="r" b="b" t="t" l="l"/>
              <a:pathLst>
                <a:path h="12335708" w="13535653">
                  <a:moveTo>
                    <a:pt x="0" y="0"/>
                  </a:moveTo>
                  <a:lnTo>
                    <a:pt x="13535653" y="0"/>
                  </a:lnTo>
                  <a:lnTo>
                    <a:pt x="13535653" y="12335708"/>
                  </a:lnTo>
                  <a:lnTo>
                    <a:pt x="0" y="12335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5456" t="-9944" r="-45069" b="-305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62770" y="3523487"/>
              <a:ext cx="771544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 Logic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62770" y="6041696"/>
              <a:ext cx="915958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Object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62770" y="309943"/>
              <a:ext cx="973980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62770" y="10512331"/>
              <a:ext cx="1185908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Persistent Data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90770" y="1828301"/>
              <a:ext cx="829139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LoginForm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840318" y="8010476"/>
              <a:ext cx="626795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Account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462321" y="4179905"/>
              <a:ext cx="1108825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AuthController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915829" y="11368536"/>
              <a:ext cx="761808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DataBase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341226" y="1822565"/>
              <a:ext cx="1050635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RegisterForm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488951" y="4129328"/>
              <a:ext cx="1022006" cy="403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72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SaveItinerary Controller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966159" y="6585390"/>
              <a:ext cx="626627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Itinerary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914119" y="1797191"/>
              <a:ext cx="1022006" cy="403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72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SaveItinerary Button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625856" y="1816829"/>
              <a:ext cx="710303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MapView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695171" y="591531"/>
              <a:ext cx="858104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Notification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332923" y="6385416"/>
              <a:ext cx="915958" cy="403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72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ExternalAPI Handler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739260" y="4082707"/>
              <a:ext cx="751980" cy="403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72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Itinerary Controller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918407" y="1811093"/>
              <a:ext cx="1253743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SideRoutePanel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469798" y="9082165"/>
              <a:ext cx="851664" cy="458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TrainRoute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846284" y="1805357"/>
              <a:ext cx="790514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InputForm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973605" y="9308467"/>
              <a:ext cx="761808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BusRoute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9828810" y="7513418"/>
              <a:ext cx="462893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9526324" y="4113802"/>
              <a:ext cx="1137790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InputController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0315327" y="9302731"/>
              <a:ext cx="1002701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DrivingRoute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0343666" y="1771988"/>
              <a:ext cx="915958" cy="403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72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ExternalAPI Handler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1754474" y="9296995"/>
              <a:ext cx="1073420" cy="226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en-US" sz="101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WalkingRoute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2906900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84443" y="107609"/>
            <a:ext cx="12011080" cy="10179391"/>
          </a:xfrm>
          <a:custGeom>
            <a:avLst/>
            <a:gdLst/>
            <a:ahLst/>
            <a:cxnLst/>
            <a:rect r="r" b="b" t="t" l="l"/>
            <a:pathLst>
              <a:path h="10179391" w="12011080">
                <a:moveTo>
                  <a:pt x="0" y="0"/>
                </a:moveTo>
                <a:lnTo>
                  <a:pt x="12011080" y="0"/>
                </a:lnTo>
                <a:lnTo>
                  <a:pt x="12011080" y="10179391"/>
                </a:lnTo>
                <a:lnTo>
                  <a:pt x="0" y="10179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916396" y="990600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Class Diagram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397415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35051" y="-1360235"/>
            <a:ext cx="6796258" cy="6796258"/>
          </a:xfrm>
          <a:custGeom>
            <a:avLst/>
            <a:gdLst/>
            <a:ahLst/>
            <a:cxnLst/>
            <a:rect r="r" b="b" t="t" l="l"/>
            <a:pathLst>
              <a:path h="6796258" w="6796258">
                <a:moveTo>
                  <a:pt x="0" y="0"/>
                </a:moveTo>
                <a:lnTo>
                  <a:pt x="6796258" y="0"/>
                </a:lnTo>
                <a:lnTo>
                  <a:pt x="6796258" y="6796258"/>
                </a:lnTo>
                <a:lnTo>
                  <a:pt x="0" y="6796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15676" y="3031252"/>
            <a:ext cx="7637261" cy="7637261"/>
          </a:xfrm>
          <a:custGeom>
            <a:avLst/>
            <a:gdLst/>
            <a:ahLst/>
            <a:cxnLst/>
            <a:rect r="r" b="b" t="t" l="l"/>
            <a:pathLst>
              <a:path h="7637261" w="7637261">
                <a:moveTo>
                  <a:pt x="0" y="0"/>
                </a:moveTo>
                <a:lnTo>
                  <a:pt x="7637261" y="0"/>
                </a:lnTo>
                <a:lnTo>
                  <a:pt x="7637261" y="7637261"/>
                </a:lnTo>
                <a:lnTo>
                  <a:pt x="0" y="7637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28098" y="7013666"/>
            <a:ext cx="11563739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5"/>
              </a:lnSpc>
              <a:spcBef>
                <a:spcPct val="0"/>
              </a:spcBef>
            </a:pPr>
            <a:r>
              <a:rPr lang="en-US" sz="5700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Traceability In Project Deliverables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3158354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80897" y="-1250811"/>
            <a:ext cx="4908136" cy="1944001"/>
            <a:chOff x="0" y="0"/>
            <a:chExt cx="1292678" cy="51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2678" cy="512000"/>
            </a:xfrm>
            <a:custGeom>
              <a:avLst/>
              <a:gdLst/>
              <a:ahLst/>
              <a:cxnLst/>
              <a:rect r="r" b="b" t="t" l="l"/>
              <a:pathLst>
                <a:path h="512000" w="1292678">
                  <a:moveTo>
                    <a:pt x="26815" y="0"/>
                  </a:moveTo>
                  <a:lnTo>
                    <a:pt x="1265863" y="0"/>
                  </a:lnTo>
                  <a:cubicBezTo>
                    <a:pt x="1272975" y="0"/>
                    <a:pt x="1279795" y="2825"/>
                    <a:pt x="1284824" y="7854"/>
                  </a:cubicBezTo>
                  <a:cubicBezTo>
                    <a:pt x="1289853" y="12883"/>
                    <a:pt x="1292678" y="19703"/>
                    <a:pt x="1292678" y="26815"/>
                  </a:cubicBezTo>
                  <a:lnTo>
                    <a:pt x="1292678" y="485185"/>
                  </a:lnTo>
                  <a:cubicBezTo>
                    <a:pt x="1292678" y="492297"/>
                    <a:pt x="1289853" y="499117"/>
                    <a:pt x="1284824" y="504146"/>
                  </a:cubicBezTo>
                  <a:cubicBezTo>
                    <a:pt x="1279795" y="509175"/>
                    <a:pt x="1272975" y="512000"/>
                    <a:pt x="1265863" y="512000"/>
                  </a:cubicBezTo>
                  <a:lnTo>
                    <a:pt x="26815" y="512000"/>
                  </a:lnTo>
                  <a:cubicBezTo>
                    <a:pt x="19703" y="512000"/>
                    <a:pt x="12883" y="509175"/>
                    <a:pt x="7854" y="504146"/>
                  </a:cubicBezTo>
                  <a:cubicBezTo>
                    <a:pt x="2825" y="499117"/>
                    <a:pt x="0" y="492297"/>
                    <a:pt x="0" y="485185"/>
                  </a:cubicBezTo>
                  <a:lnTo>
                    <a:pt x="0" y="26815"/>
                  </a:lnTo>
                  <a:cubicBezTo>
                    <a:pt x="0" y="19703"/>
                    <a:pt x="2825" y="12883"/>
                    <a:pt x="7854" y="7854"/>
                  </a:cubicBezTo>
                  <a:cubicBezTo>
                    <a:pt x="12883" y="2825"/>
                    <a:pt x="19703" y="0"/>
                    <a:pt x="268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292678" cy="55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5551" y="2263834"/>
            <a:ext cx="6811372" cy="7433967"/>
          </a:xfrm>
          <a:custGeom>
            <a:avLst/>
            <a:gdLst/>
            <a:ahLst/>
            <a:cxnLst/>
            <a:rect r="r" b="b" t="t" l="l"/>
            <a:pathLst>
              <a:path h="7433967" w="6811372">
                <a:moveTo>
                  <a:pt x="0" y="0"/>
                </a:moveTo>
                <a:lnTo>
                  <a:pt x="6811372" y="0"/>
                </a:lnTo>
                <a:lnTo>
                  <a:pt x="6811372" y="7433967"/>
                </a:lnTo>
                <a:lnTo>
                  <a:pt x="0" y="74339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61076" y="2996535"/>
            <a:ext cx="7971373" cy="5968565"/>
          </a:xfrm>
          <a:custGeom>
            <a:avLst/>
            <a:gdLst/>
            <a:ahLst/>
            <a:cxnLst/>
            <a:rect r="r" b="b" t="t" l="l"/>
            <a:pathLst>
              <a:path h="5968565" w="7971373">
                <a:moveTo>
                  <a:pt x="0" y="0"/>
                </a:moveTo>
                <a:lnTo>
                  <a:pt x="7971373" y="0"/>
                </a:lnTo>
                <a:lnTo>
                  <a:pt x="7971373" y="5968565"/>
                </a:lnTo>
                <a:lnTo>
                  <a:pt x="0" y="59685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3333" y="9525"/>
            <a:ext cx="1143223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Login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3902" y="787418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Use Case Description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3158354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80897" y="-1250811"/>
            <a:ext cx="4908136" cy="1944001"/>
            <a:chOff x="0" y="0"/>
            <a:chExt cx="1292678" cy="51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2678" cy="512000"/>
            </a:xfrm>
            <a:custGeom>
              <a:avLst/>
              <a:gdLst/>
              <a:ahLst/>
              <a:cxnLst/>
              <a:rect r="r" b="b" t="t" l="l"/>
              <a:pathLst>
                <a:path h="512000" w="1292678">
                  <a:moveTo>
                    <a:pt x="26815" y="0"/>
                  </a:moveTo>
                  <a:lnTo>
                    <a:pt x="1265863" y="0"/>
                  </a:lnTo>
                  <a:cubicBezTo>
                    <a:pt x="1272975" y="0"/>
                    <a:pt x="1279795" y="2825"/>
                    <a:pt x="1284824" y="7854"/>
                  </a:cubicBezTo>
                  <a:cubicBezTo>
                    <a:pt x="1289853" y="12883"/>
                    <a:pt x="1292678" y="19703"/>
                    <a:pt x="1292678" y="26815"/>
                  </a:cubicBezTo>
                  <a:lnTo>
                    <a:pt x="1292678" y="485185"/>
                  </a:lnTo>
                  <a:cubicBezTo>
                    <a:pt x="1292678" y="492297"/>
                    <a:pt x="1289853" y="499117"/>
                    <a:pt x="1284824" y="504146"/>
                  </a:cubicBezTo>
                  <a:cubicBezTo>
                    <a:pt x="1279795" y="509175"/>
                    <a:pt x="1272975" y="512000"/>
                    <a:pt x="1265863" y="512000"/>
                  </a:cubicBezTo>
                  <a:lnTo>
                    <a:pt x="26815" y="512000"/>
                  </a:lnTo>
                  <a:cubicBezTo>
                    <a:pt x="19703" y="512000"/>
                    <a:pt x="12883" y="509175"/>
                    <a:pt x="7854" y="504146"/>
                  </a:cubicBezTo>
                  <a:cubicBezTo>
                    <a:pt x="2825" y="499117"/>
                    <a:pt x="0" y="492297"/>
                    <a:pt x="0" y="485185"/>
                  </a:cubicBezTo>
                  <a:lnTo>
                    <a:pt x="0" y="26815"/>
                  </a:lnTo>
                  <a:cubicBezTo>
                    <a:pt x="0" y="19703"/>
                    <a:pt x="2825" y="12883"/>
                    <a:pt x="7854" y="7854"/>
                  </a:cubicBezTo>
                  <a:cubicBezTo>
                    <a:pt x="12883" y="2825"/>
                    <a:pt x="19703" y="0"/>
                    <a:pt x="268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292678" cy="55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243609"/>
            <a:ext cx="16230600" cy="5486400"/>
          </a:xfrm>
          <a:custGeom>
            <a:avLst/>
            <a:gdLst/>
            <a:ahLst/>
            <a:cxnLst/>
            <a:rect r="r" b="b" t="t" l="l"/>
            <a:pathLst>
              <a:path h="5486400" w="16230600">
                <a:moveTo>
                  <a:pt x="0" y="0"/>
                </a:moveTo>
                <a:lnTo>
                  <a:pt x="16230600" y="0"/>
                </a:lnTo>
                <a:lnTo>
                  <a:pt x="16230600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3902" y="795922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Relevant Class Diagram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333" y="9525"/>
            <a:ext cx="1143223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Login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397415" y="-1921869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80897" y="-1250811"/>
            <a:ext cx="4908136" cy="1944001"/>
            <a:chOff x="0" y="0"/>
            <a:chExt cx="1292678" cy="51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2678" cy="512000"/>
            </a:xfrm>
            <a:custGeom>
              <a:avLst/>
              <a:gdLst/>
              <a:ahLst/>
              <a:cxnLst/>
              <a:rect r="r" b="b" t="t" l="l"/>
              <a:pathLst>
                <a:path h="512000" w="1292678">
                  <a:moveTo>
                    <a:pt x="26815" y="0"/>
                  </a:moveTo>
                  <a:lnTo>
                    <a:pt x="1265863" y="0"/>
                  </a:lnTo>
                  <a:cubicBezTo>
                    <a:pt x="1272975" y="0"/>
                    <a:pt x="1279795" y="2825"/>
                    <a:pt x="1284824" y="7854"/>
                  </a:cubicBezTo>
                  <a:cubicBezTo>
                    <a:pt x="1289853" y="12883"/>
                    <a:pt x="1292678" y="19703"/>
                    <a:pt x="1292678" y="26815"/>
                  </a:cubicBezTo>
                  <a:lnTo>
                    <a:pt x="1292678" y="485185"/>
                  </a:lnTo>
                  <a:cubicBezTo>
                    <a:pt x="1292678" y="492297"/>
                    <a:pt x="1289853" y="499117"/>
                    <a:pt x="1284824" y="504146"/>
                  </a:cubicBezTo>
                  <a:cubicBezTo>
                    <a:pt x="1279795" y="509175"/>
                    <a:pt x="1272975" y="512000"/>
                    <a:pt x="1265863" y="512000"/>
                  </a:cubicBezTo>
                  <a:lnTo>
                    <a:pt x="26815" y="512000"/>
                  </a:lnTo>
                  <a:cubicBezTo>
                    <a:pt x="19703" y="512000"/>
                    <a:pt x="12883" y="509175"/>
                    <a:pt x="7854" y="504146"/>
                  </a:cubicBezTo>
                  <a:cubicBezTo>
                    <a:pt x="2825" y="499117"/>
                    <a:pt x="0" y="492297"/>
                    <a:pt x="0" y="485185"/>
                  </a:cubicBezTo>
                  <a:lnTo>
                    <a:pt x="0" y="26815"/>
                  </a:lnTo>
                  <a:cubicBezTo>
                    <a:pt x="0" y="19703"/>
                    <a:pt x="2825" y="12883"/>
                    <a:pt x="7854" y="7854"/>
                  </a:cubicBezTo>
                  <a:cubicBezTo>
                    <a:pt x="12883" y="2825"/>
                    <a:pt x="19703" y="0"/>
                    <a:pt x="268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292678" cy="55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924731" y="2000126"/>
            <a:ext cx="10438538" cy="8120387"/>
          </a:xfrm>
          <a:custGeom>
            <a:avLst/>
            <a:gdLst/>
            <a:ahLst/>
            <a:cxnLst/>
            <a:rect r="r" b="b" t="t" l="l"/>
            <a:pathLst>
              <a:path h="8120387" w="10438538">
                <a:moveTo>
                  <a:pt x="0" y="0"/>
                </a:moveTo>
                <a:lnTo>
                  <a:pt x="10438538" y="0"/>
                </a:lnTo>
                <a:lnTo>
                  <a:pt x="10438538" y="8120387"/>
                </a:lnTo>
                <a:lnTo>
                  <a:pt x="0" y="8120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3902" y="795922"/>
            <a:ext cx="14480195" cy="103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5"/>
              </a:lnSpc>
              <a:spcBef>
                <a:spcPct val="0"/>
              </a:spcBef>
            </a:pPr>
            <a:r>
              <a:rPr lang="en-US" sz="65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Relevant Sequence Diagram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333" y="9525"/>
            <a:ext cx="1143223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Login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2356682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80897" y="-1250811"/>
            <a:ext cx="4908136" cy="1944001"/>
            <a:chOff x="0" y="0"/>
            <a:chExt cx="1292678" cy="51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2678" cy="512000"/>
            </a:xfrm>
            <a:custGeom>
              <a:avLst/>
              <a:gdLst/>
              <a:ahLst/>
              <a:cxnLst/>
              <a:rect r="r" b="b" t="t" l="l"/>
              <a:pathLst>
                <a:path h="512000" w="1292678">
                  <a:moveTo>
                    <a:pt x="26815" y="0"/>
                  </a:moveTo>
                  <a:lnTo>
                    <a:pt x="1265863" y="0"/>
                  </a:lnTo>
                  <a:cubicBezTo>
                    <a:pt x="1272975" y="0"/>
                    <a:pt x="1279795" y="2825"/>
                    <a:pt x="1284824" y="7854"/>
                  </a:cubicBezTo>
                  <a:cubicBezTo>
                    <a:pt x="1289853" y="12883"/>
                    <a:pt x="1292678" y="19703"/>
                    <a:pt x="1292678" y="26815"/>
                  </a:cubicBezTo>
                  <a:lnTo>
                    <a:pt x="1292678" y="485185"/>
                  </a:lnTo>
                  <a:cubicBezTo>
                    <a:pt x="1292678" y="492297"/>
                    <a:pt x="1289853" y="499117"/>
                    <a:pt x="1284824" y="504146"/>
                  </a:cubicBezTo>
                  <a:cubicBezTo>
                    <a:pt x="1279795" y="509175"/>
                    <a:pt x="1272975" y="512000"/>
                    <a:pt x="1265863" y="512000"/>
                  </a:cubicBezTo>
                  <a:lnTo>
                    <a:pt x="26815" y="512000"/>
                  </a:lnTo>
                  <a:cubicBezTo>
                    <a:pt x="19703" y="512000"/>
                    <a:pt x="12883" y="509175"/>
                    <a:pt x="7854" y="504146"/>
                  </a:cubicBezTo>
                  <a:cubicBezTo>
                    <a:pt x="2825" y="499117"/>
                    <a:pt x="0" y="492297"/>
                    <a:pt x="0" y="485185"/>
                  </a:cubicBezTo>
                  <a:lnTo>
                    <a:pt x="0" y="26815"/>
                  </a:lnTo>
                  <a:cubicBezTo>
                    <a:pt x="0" y="19703"/>
                    <a:pt x="2825" y="12883"/>
                    <a:pt x="7854" y="7854"/>
                  </a:cubicBezTo>
                  <a:cubicBezTo>
                    <a:pt x="12883" y="2825"/>
                    <a:pt x="19703" y="0"/>
                    <a:pt x="268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292678" cy="55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766075" y="2379755"/>
            <a:ext cx="10755851" cy="7529096"/>
          </a:xfrm>
          <a:custGeom>
            <a:avLst/>
            <a:gdLst/>
            <a:ahLst/>
            <a:cxnLst/>
            <a:rect r="r" b="b" t="t" l="l"/>
            <a:pathLst>
              <a:path h="7529096" w="10755851">
                <a:moveTo>
                  <a:pt x="0" y="0"/>
                </a:moveTo>
                <a:lnTo>
                  <a:pt x="10755850" y="0"/>
                </a:lnTo>
                <a:lnTo>
                  <a:pt x="10755850" y="7529096"/>
                </a:lnTo>
                <a:lnTo>
                  <a:pt x="0" y="75290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33642" y="509271"/>
            <a:ext cx="10220716" cy="98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05"/>
              </a:lnSpc>
              <a:spcBef>
                <a:spcPct val="0"/>
              </a:spcBef>
            </a:pPr>
            <a:r>
              <a:rPr lang="en-US" sz="61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Testing and Validation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87011" y="1636533"/>
            <a:ext cx="752363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Black Box and White Box Testing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3333" y="9525"/>
            <a:ext cx="1143223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Login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2372806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4"/>
                </a:lnTo>
                <a:lnTo>
                  <a:pt x="0" y="1827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80897" y="-1250811"/>
            <a:ext cx="4908136" cy="1944001"/>
            <a:chOff x="0" y="0"/>
            <a:chExt cx="1292678" cy="51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2678" cy="512000"/>
            </a:xfrm>
            <a:custGeom>
              <a:avLst/>
              <a:gdLst/>
              <a:ahLst/>
              <a:cxnLst/>
              <a:rect r="r" b="b" t="t" l="l"/>
              <a:pathLst>
                <a:path h="512000" w="1292678">
                  <a:moveTo>
                    <a:pt x="26815" y="0"/>
                  </a:moveTo>
                  <a:lnTo>
                    <a:pt x="1265863" y="0"/>
                  </a:lnTo>
                  <a:cubicBezTo>
                    <a:pt x="1272975" y="0"/>
                    <a:pt x="1279795" y="2825"/>
                    <a:pt x="1284824" y="7854"/>
                  </a:cubicBezTo>
                  <a:cubicBezTo>
                    <a:pt x="1289853" y="12883"/>
                    <a:pt x="1292678" y="19703"/>
                    <a:pt x="1292678" y="26815"/>
                  </a:cubicBezTo>
                  <a:lnTo>
                    <a:pt x="1292678" y="485185"/>
                  </a:lnTo>
                  <a:cubicBezTo>
                    <a:pt x="1292678" y="492297"/>
                    <a:pt x="1289853" y="499117"/>
                    <a:pt x="1284824" y="504146"/>
                  </a:cubicBezTo>
                  <a:cubicBezTo>
                    <a:pt x="1279795" y="509175"/>
                    <a:pt x="1272975" y="512000"/>
                    <a:pt x="1265863" y="512000"/>
                  </a:cubicBezTo>
                  <a:lnTo>
                    <a:pt x="26815" y="512000"/>
                  </a:lnTo>
                  <a:cubicBezTo>
                    <a:pt x="19703" y="512000"/>
                    <a:pt x="12883" y="509175"/>
                    <a:pt x="7854" y="504146"/>
                  </a:cubicBezTo>
                  <a:cubicBezTo>
                    <a:pt x="2825" y="499117"/>
                    <a:pt x="0" y="492297"/>
                    <a:pt x="0" y="485185"/>
                  </a:cubicBezTo>
                  <a:lnTo>
                    <a:pt x="0" y="26815"/>
                  </a:lnTo>
                  <a:cubicBezTo>
                    <a:pt x="0" y="19703"/>
                    <a:pt x="2825" y="12883"/>
                    <a:pt x="7854" y="7854"/>
                  </a:cubicBezTo>
                  <a:cubicBezTo>
                    <a:pt x="12883" y="2825"/>
                    <a:pt x="19703" y="0"/>
                    <a:pt x="268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292678" cy="55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57605" y="2240418"/>
            <a:ext cx="11972789" cy="7797279"/>
          </a:xfrm>
          <a:custGeom>
            <a:avLst/>
            <a:gdLst/>
            <a:ahLst/>
            <a:cxnLst/>
            <a:rect r="r" b="b" t="t" l="l"/>
            <a:pathLst>
              <a:path h="7797279" w="11972789">
                <a:moveTo>
                  <a:pt x="0" y="0"/>
                </a:moveTo>
                <a:lnTo>
                  <a:pt x="11972790" y="0"/>
                </a:lnTo>
                <a:lnTo>
                  <a:pt x="11972790" y="7797279"/>
                </a:lnTo>
                <a:lnTo>
                  <a:pt x="0" y="779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3333" y="9525"/>
            <a:ext cx="1143223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Login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33642" y="509271"/>
            <a:ext cx="10220716" cy="98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05"/>
              </a:lnSpc>
              <a:spcBef>
                <a:spcPct val="0"/>
              </a:spcBef>
            </a:pPr>
            <a:r>
              <a:rPr lang="en-US" sz="61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Testing and 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87011" y="1636533"/>
            <a:ext cx="752363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Black Box and White Box Testing</a:t>
            </a:r>
          </a:p>
          <a:p>
            <a:pPr algn="ctr">
              <a:lnSpc>
                <a:spcPts val="4830"/>
              </a:lnSpc>
            </a:pPr>
            <a:r>
              <a:rPr lang="en-US" sz="42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Control Flow Graph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07071" y="-1635770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5"/>
                </a:lnTo>
                <a:lnTo>
                  <a:pt x="0" y="1827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80897" y="-1250811"/>
            <a:ext cx="4908136" cy="1944001"/>
            <a:chOff x="0" y="0"/>
            <a:chExt cx="1292678" cy="51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2678" cy="512000"/>
            </a:xfrm>
            <a:custGeom>
              <a:avLst/>
              <a:gdLst/>
              <a:ahLst/>
              <a:cxnLst/>
              <a:rect r="r" b="b" t="t" l="l"/>
              <a:pathLst>
                <a:path h="512000" w="1292678">
                  <a:moveTo>
                    <a:pt x="26815" y="0"/>
                  </a:moveTo>
                  <a:lnTo>
                    <a:pt x="1265863" y="0"/>
                  </a:lnTo>
                  <a:cubicBezTo>
                    <a:pt x="1272975" y="0"/>
                    <a:pt x="1279795" y="2825"/>
                    <a:pt x="1284824" y="7854"/>
                  </a:cubicBezTo>
                  <a:cubicBezTo>
                    <a:pt x="1289853" y="12883"/>
                    <a:pt x="1292678" y="19703"/>
                    <a:pt x="1292678" y="26815"/>
                  </a:cubicBezTo>
                  <a:lnTo>
                    <a:pt x="1292678" y="485185"/>
                  </a:lnTo>
                  <a:cubicBezTo>
                    <a:pt x="1292678" y="492297"/>
                    <a:pt x="1289853" y="499117"/>
                    <a:pt x="1284824" y="504146"/>
                  </a:cubicBezTo>
                  <a:cubicBezTo>
                    <a:pt x="1279795" y="509175"/>
                    <a:pt x="1272975" y="512000"/>
                    <a:pt x="1265863" y="512000"/>
                  </a:cubicBezTo>
                  <a:lnTo>
                    <a:pt x="26815" y="512000"/>
                  </a:lnTo>
                  <a:cubicBezTo>
                    <a:pt x="19703" y="512000"/>
                    <a:pt x="12883" y="509175"/>
                    <a:pt x="7854" y="504146"/>
                  </a:cubicBezTo>
                  <a:cubicBezTo>
                    <a:pt x="2825" y="499117"/>
                    <a:pt x="0" y="492297"/>
                    <a:pt x="0" y="485185"/>
                  </a:cubicBezTo>
                  <a:lnTo>
                    <a:pt x="0" y="26815"/>
                  </a:lnTo>
                  <a:cubicBezTo>
                    <a:pt x="0" y="19703"/>
                    <a:pt x="2825" y="12883"/>
                    <a:pt x="7854" y="7854"/>
                  </a:cubicBezTo>
                  <a:cubicBezTo>
                    <a:pt x="12883" y="2825"/>
                    <a:pt x="19703" y="0"/>
                    <a:pt x="268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292678" cy="55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14162" y="3189052"/>
            <a:ext cx="12059675" cy="6069248"/>
          </a:xfrm>
          <a:custGeom>
            <a:avLst/>
            <a:gdLst/>
            <a:ahLst/>
            <a:cxnLst/>
            <a:rect r="r" b="b" t="t" l="l"/>
            <a:pathLst>
              <a:path h="6069248" w="12059675">
                <a:moveTo>
                  <a:pt x="0" y="0"/>
                </a:moveTo>
                <a:lnTo>
                  <a:pt x="12059676" y="0"/>
                </a:lnTo>
                <a:lnTo>
                  <a:pt x="12059676" y="6069248"/>
                </a:lnTo>
                <a:lnTo>
                  <a:pt x="0" y="60692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3333" y="9525"/>
            <a:ext cx="1143223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Login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33642" y="509271"/>
            <a:ext cx="10220716" cy="98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05"/>
              </a:lnSpc>
              <a:spcBef>
                <a:spcPct val="0"/>
              </a:spcBef>
            </a:pPr>
            <a:r>
              <a:rPr lang="en-US" sz="6178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Testing and 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87011" y="1636533"/>
            <a:ext cx="752363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Black Box and White Box Testing</a:t>
            </a:r>
          </a:p>
          <a:p>
            <a:pPr algn="ctr">
              <a:lnSpc>
                <a:spcPts val="4830"/>
              </a:lnSpc>
            </a:pPr>
            <a:r>
              <a:rPr lang="en-US" sz="42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Basis Paths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397415" y="-2472620"/>
            <a:ext cx="15483515" cy="18278344"/>
          </a:xfrm>
          <a:custGeom>
            <a:avLst/>
            <a:gdLst/>
            <a:ahLst/>
            <a:cxnLst/>
            <a:rect r="r" b="b" t="t" l="l"/>
            <a:pathLst>
              <a:path h="18278344" w="15483515">
                <a:moveTo>
                  <a:pt x="0" y="0"/>
                </a:moveTo>
                <a:lnTo>
                  <a:pt x="15483514" y="0"/>
                </a:lnTo>
                <a:lnTo>
                  <a:pt x="15483514" y="18278345"/>
                </a:lnTo>
                <a:lnTo>
                  <a:pt x="0" y="1827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30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89988" y="0"/>
            <a:ext cx="8498012" cy="10287000"/>
          </a:xfrm>
          <a:custGeom>
            <a:avLst/>
            <a:gdLst/>
            <a:ahLst/>
            <a:cxnLst/>
            <a:rect r="r" b="b" t="t" l="l"/>
            <a:pathLst>
              <a:path h="10287000" w="8498012">
                <a:moveTo>
                  <a:pt x="0" y="0"/>
                </a:moveTo>
                <a:lnTo>
                  <a:pt x="8498012" y="0"/>
                </a:lnTo>
                <a:lnTo>
                  <a:pt x="84980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951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9237" y="1133961"/>
            <a:ext cx="6231202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5"/>
              </a:lnSpc>
              <a:spcBef>
                <a:spcPct val="0"/>
              </a:spcBef>
            </a:pPr>
            <a:r>
              <a:rPr lang="en-US" sz="5700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Future Plans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05894" y="5143500"/>
            <a:ext cx="1826728" cy="1826728"/>
          </a:xfrm>
          <a:custGeom>
            <a:avLst/>
            <a:gdLst/>
            <a:ahLst/>
            <a:cxnLst/>
            <a:rect r="r" b="b" t="t" l="l"/>
            <a:pathLst>
              <a:path h="1826728" w="1826728">
                <a:moveTo>
                  <a:pt x="0" y="0"/>
                </a:moveTo>
                <a:lnTo>
                  <a:pt x="1826728" y="0"/>
                </a:lnTo>
                <a:lnTo>
                  <a:pt x="1826728" y="1826728"/>
                </a:lnTo>
                <a:lnTo>
                  <a:pt x="0" y="1826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3464" y="5711062"/>
            <a:ext cx="691604" cy="691604"/>
          </a:xfrm>
          <a:custGeom>
            <a:avLst/>
            <a:gdLst/>
            <a:ahLst/>
            <a:cxnLst/>
            <a:rect r="r" b="b" t="t" l="l"/>
            <a:pathLst>
              <a:path h="691604" w="691604">
                <a:moveTo>
                  <a:pt x="0" y="0"/>
                </a:moveTo>
                <a:lnTo>
                  <a:pt x="691604" y="0"/>
                </a:lnTo>
                <a:lnTo>
                  <a:pt x="691604" y="691604"/>
                </a:lnTo>
                <a:lnTo>
                  <a:pt x="0" y="6916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5873" y="2573822"/>
            <a:ext cx="1826728" cy="1826728"/>
          </a:xfrm>
          <a:custGeom>
            <a:avLst/>
            <a:gdLst/>
            <a:ahLst/>
            <a:cxnLst/>
            <a:rect r="r" b="b" t="t" l="l"/>
            <a:pathLst>
              <a:path h="1826728" w="1826728">
                <a:moveTo>
                  <a:pt x="0" y="0"/>
                </a:moveTo>
                <a:lnTo>
                  <a:pt x="1826728" y="0"/>
                </a:lnTo>
                <a:lnTo>
                  <a:pt x="1826728" y="1826728"/>
                </a:lnTo>
                <a:lnTo>
                  <a:pt x="0" y="1826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34913" y="3132078"/>
            <a:ext cx="568674" cy="710216"/>
            <a:chOff x="0" y="0"/>
            <a:chExt cx="758232" cy="9469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8190" cy="946912"/>
            </a:xfrm>
            <a:custGeom>
              <a:avLst/>
              <a:gdLst/>
              <a:ahLst/>
              <a:cxnLst/>
              <a:rect r="r" b="b" t="t" l="l"/>
              <a:pathLst>
                <a:path h="946912" w="758190">
                  <a:moveTo>
                    <a:pt x="351409" y="0"/>
                  </a:moveTo>
                  <a:lnTo>
                    <a:pt x="351409" y="59309"/>
                  </a:lnTo>
                  <a:lnTo>
                    <a:pt x="147955" y="59309"/>
                  </a:lnTo>
                  <a:lnTo>
                    <a:pt x="0" y="170180"/>
                  </a:lnTo>
                  <a:lnTo>
                    <a:pt x="147828" y="281051"/>
                  </a:lnTo>
                  <a:lnTo>
                    <a:pt x="351409" y="281051"/>
                  </a:lnTo>
                  <a:lnTo>
                    <a:pt x="351409" y="336550"/>
                  </a:lnTo>
                  <a:lnTo>
                    <a:pt x="74041" y="336550"/>
                  </a:lnTo>
                  <a:lnTo>
                    <a:pt x="74041" y="558546"/>
                  </a:lnTo>
                  <a:lnTo>
                    <a:pt x="351409" y="558546"/>
                  </a:lnTo>
                  <a:lnTo>
                    <a:pt x="351409" y="614045"/>
                  </a:lnTo>
                  <a:lnTo>
                    <a:pt x="295910" y="614045"/>
                  </a:lnTo>
                  <a:lnTo>
                    <a:pt x="295910" y="891413"/>
                  </a:lnTo>
                  <a:lnTo>
                    <a:pt x="18415" y="891413"/>
                  </a:lnTo>
                  <a:lnTo>
                    <a:pt x="18415" y="946912"/>
                  </a:lnTo>
                  <a:lnTo>
                    <a:pt x="739648" y="946912"/>
                  </a:lnTo>
                  <a:lnTo>
                    <a:pt x="739648" y="891413"/>
                  </a:lnTo>
                  <a:lnTo>
                    <a:pt x="462280" y="891413"/>
                  </a:lnTo>
                  <a:lnTo>
                    <a:pt x="462280" y="614045"/>
                  </a:lnTo>
                  <a:lnTo>
                    <a:pt x="406908" y="614045"/>
                  </a:lnTo>
                  <a:lnTo>
                    <a:pt x="406908" y="558546"/>
                  </a:lnTo>
                  <a:lnTo>
                    <a:pt x="610362" y="558546"/>
                  </a:lnTo>
                  <a:lnTo>
                    <a:pt x="758190" y="447548"/>
                  </a:lnTo>
                  <a:lnTo>
                    <a:pt x="610362" y="336677"/>
                  </a:lnTo>
                  <a:lnTo>
                    <a:pt x="406908" y="336677"/>
                  </a:lnTo>
                  <a:lnTo>
                    <a:pt x="406908" y="281178"/>
                  </a:lnTo>
                  <a:lnTo>
                    <a:pt x="684403" y="281178"/>
                  </a:lnTo>
                  <a:lnTo>
                    <a:pt x="684403" y="59309"/>
                  </a:lnTo>
                  <a:lnTo>
                    <a:pt x="406908" y="59309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05873" y="7716343"/>
            <a:ext cx="1826728" cy="1826728"/>
          </a:xfrm>
          <a:custGeom>
            <a:avLst/>
            <a:gdLst/>
            <a:ahLst/>
            <a:cxnLst/>
            <a:rect r="r" b="b" t="t" l="l"/>
            <a:pathLst>
              <a:path h="1826728" w="1826728">
                <a:moveTo>
                  <a:pt x="0" y="0"/>
                </a:moveTo>
                <a:lnTo>
                  <a:pt x="1826728" y="0"/>
                </a:lnTo>
                <a:lnTo>
                  <a:pt x="1826728" y="1826728"/>
                </a:lnTo>
                <a:lnTo>
                  <a:pt x="0" y="1826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73421" y="8283945"/>
            <a:ext cx="691644" cy="691524"/>
          </a:xfrm>
          <a:custGeom>
            <a:avLst/>
            <a:gdLst/>
            <a:ahLst/>
            <a:cxnLst/>
            <a:rect r="r" b="b" t="t" l="l"/>
            <a:pathLst>
              <a:path h="691524" w="691644">
                <a:moveTo>
                  <a:pt x="0" y="0"/>
                </a:moveTo>
                <a:lnTo>
                  <a:pt x="691644" y="0"/>
                </a:lnTo>
                <a:lnTo>
                  <a:pt x="691644" y="691524"/>
                </a:lnTo>
                <a:lnTo>
                  <a:pt x="0" y="691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96732" y="2864251"/>
            <a:ext cx="6922105" cy="118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0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AI-Integrated Predictive Modelling, EV Charging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00242" y="7784121"/>
            <a:ext cx="6922105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Geographical Expansion, Accessibility Features, Mobile Native App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00242" y="5463139"/>
            <a:ext cx="6922105" cy="118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000">
                <a:solidFill>
                  <a:srgbClr val="0C090A"/>
                </a:solidFill>
                <a:latin typeface="Barlow"/>
                <a:ea typeface="Barlow"/>
                <a:cs typeface="Barlow"/>
                <a:sym typeface="Barlow"/>
              </a:rPr>
              <a:t>Intermediary Stops, Ride-Sharing Integration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631062"/>
          </a:xfrm>
          <a:custGeom>
            <a:avLst/>
            <a:gdLst/>
            <a:ahLst/>
            <a:cxnLst/>
            <a:rect r="r" b="b" t="t" l="l"/>
            <a:pathLst>
              <a:path h="5631062" w="18288000">
                <a:moveTo>
                  <a:pt x="0" y="0"/>
                </a:moveTo>
                <a:lnTo>
                  <a:pt x="18288000" y="0"/>
                </a:lnTo>
                <a:lnTo>
                  <a:pt x="18288000" y="5631062"/>
                </a:lnTo>
                <a:lnTo>
                  <a:pt x="0" y="5631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728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28946" y="7135102"/>
            <a:ext cx="13030108" cy="174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16"/>
              </a:lnSpc>
              <a:spcBef>
                <a:spcPct val="0"/>
              </a:spcBef>
            </a:pPr>
            <a:r>
              <a:rPr lang="en-US" sz="10971" u="none">
                <a:solidFill>
                  <a:srgbClr val="0C090A"/>
                </a:solidFill>
                <a:latin typeface="The Seasons"/>
                <a:ea typeface="The Seasons"/>
                <a:cs typeface="The Seasons"/>
                <a:sym typeface="The Seaso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DAG3hbRQUtM</dc:identifier>
  <dcterms:modified xsi:type="dcterms:W3CDTF">2011-08-01T06:04:30Z</dcterms:modified>
  <cp:revision>1</cp:revision>
  <dc:title>EASYGO</dc:title>
</cp:coreProperties>
</file>